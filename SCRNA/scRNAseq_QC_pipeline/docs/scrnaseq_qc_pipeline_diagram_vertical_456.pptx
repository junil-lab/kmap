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4630400" cy="11155680" type="custom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530352" y="292608"/>
            <a:ext cx="6949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2600" b="1">
                <a:solidFill>
                  <a:srgbClr val="1F2937"/>
                </a:solidFill>
                <a:latin typeface="Arial"/>
                <a:ea typeface="Malgun Gothic"/>
              </a:rPr>
              <a:t>K_map scRNA-seq Preprocessing and QC Pipeline</a:t>
            </a:r>
            <a:endParaRPr lang="ko-KR" sz="2600"/>
          </a:p>
          <a:p>
            <a:r>
              <a:rPr lang="ko-KR" sz="1400">
                <a:solidFill>
                  <a:srgbClr val="4B5563"/>
                </a:solidFill>
                <a:latin typeface="Arial"/>
                <a:ea typeface="Malgun Gothic"/>
              </a:rPr>
              <a:t>Cell Ranger SIF + CellBender + Scanpy QC + SOLO doublet filtering</a:t>
            </a:r>
            <a:endParaRPr lang="ko-KR" sz="1400"/>
          </a:p>
        </p:txBody>
      </p:sp>
      <p:sp>
        <p:nvSpPr>
          <p:cNvPr id="3" name="Legend"/>
          <p:cNvSpPr/>
          <p:nvPr/>
        </p:nvSpPr>
        <p:spPr>
          <a:xfrm>
            <a:off x="11338560" y="365760"/>
            <a:ext cx="274320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5E7EB"/>
            </a:solidFill>
          </a:ln>
        </p:spPr>
      </p:sp>
      <p:sp>
        <p:nvSpPr>
          <p:cNvPr id="4" name="Legend step"/>
          <p:cNvSpPr/>
          <p:nvPr/>
        </p:nvSpPr>
        <p:spPr>
          <a:xfrm>
            <a:off x="11521440" y="56692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5" name="Legend step stripe"/>
          <p:cNvSpPr/>
          <p:nvPr/>
        </p:nvSpPr>
        <p:spPr>
          <a:xfrm>
            <a:off x="11521440" y="566928"/>
            <a:ext cx="73152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6" name="Legend step text"/>
          <p:cNvSpPr txBox="1"/>
          <p:nvPr/>
        </p:nvSpPr>
        <p:spPr>
          <a:xfrm>
            <a:off x="11722608" y="73152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7" name="TextBox"/>
          <p:cNvSpPr txBox="1"/>
          <p:nvPr/>
        </p:nvSpPr>
        <p:spPr>
          <a:xfrm>
            <a:off x="11795760" y="62179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100">
                <a:solidFill>
                  <a:srgbClr val="374151"/>
                </a:solidFill>
                <a:latin typeface="Arial"/>
                <a:ea typeface="Malgun Gothic"/>
              </a:rPr>
              <a:t>Pipeline step</a:t>
            </a:r>
            <a:endParaRPr lang="ko-KR" sz="1100"/>
          </a:p>
        </p:txBody>
      </p:sp>
      <p:sp>
        <p:nvSpPr>
          <p:cNvPr id="8" name="Legend final"/>
          <p:cNvSpPr/>
          <p:nvPr/>
        </p:nvSpPr>
        <p:spPr>
          <a:xfrm>
            <a:off x="11521440" y="84124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9" name="Legend final stripe"/>
          <p:cNvSpPr/>
          <p:nvPr/>
        </p:nvSpPr>
        <p:spPr>
          <a:xfrm>
            <a:off x="11521440" y="841248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Legend final text"/>
          <p:cNvSpPr txBox="1"/>
          <p:nvPr/>
        </p:nvSpPr>
        <p:spPr>
          <a:xfrm>
            <a:off x="11722608" y="100584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11" name="TextBox"/>
          <p:cNvSpPr txBox="1"/>
          <p:nvPr/>
        </p:nvSpPr>
        <p:spPr>
          <a:xfrm>
            <a:off x="11795760" y="89611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100">
                <a:solidFill>
                  <a:srgbClr val="374151"/>
                </a:solidFill>
                <a:latin typeface="Arial"/>
                <a:ea typeface="Malgun Gothic"/>
              </a:rPr>
              <a:t>Final output</a:t>
            </a:r>
            <a:endParaRPr lang="ko-KR" sz="1100"/>
          </a:p>
        </p:txBody>
      </p:sp>
      <p:sp>
        <p:nvSpPr>
          <p:cNvPr id="12" name="Legend ref"/>
          <p:cNvSpPr/>
          <p:nvPr/>
        </p:nvSpPr>
        <p:spPr>
          <a:xfrm>
            <a:off x="11521440" y="111556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13" name="Legend ref stripe"/>
          <p:cNvSpPr/>
          <p:nvPr/>
        </p:nvSpPr>
        <p:spPr>
          <a:xfrm>
            <a:off x="11521440" y="1115568"/>
            <a:ext cx="73152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14" name="Legend ref text"/>
          <p:cNvSpPr txBox="1"/>
          <p:nvPr/>
        </p:nvSpPr>
        <p:spPr>
          <a:xfrm>
            <a:off x="11722608" y="128016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15" name="TextBox"/>
          <p:cNvSpPr txBox="1"/>
          <p:nvPr/>
        </p:nvSpPr>
        <p:spPr>
          <a:xfrm>
            <a:off x="11795760" y="117043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100">
                <a:solidFill>
                  <a:srgbClr val="374151"/>
                </a:solidFill>
                <a:latin typeface="Arial"/>
                <a:ea typeface="Malgun Gothic"/>
              </a:rPr>
              <a:t>Input / reference</a:t>
            </a:r>
            <a:endParaRPr lang="ko-KR" sz="1100"/>
          </a:p>
        </p:txBody>
      </p:sp>
      <p:sp>
        <p:nvSpPr>
          <p:cNvPr id="16" name="Legend optional"/>
          <p:cNvSpPr/>
          <p:nvPr/>
        </p:nvSpPr>
        <p:spPr>
          <a:xfrm>
            <a:off x="11521440" y="1389888"/>
            <a:ext cx="164592" cy="164592"/>
          </a:xfrm>
          <a:prstGeom prst="rect">
            <a:avLst/>
          </a:prstGeom>
          <a:solidFill>
            <a:srgbClr val="FFFFFF"/>
          </a:solidFill>
          <a:ln w="20320">
            <a:solidFill>
              <a:srgbClr val="9CA3AF"/>
            </a:solidFill>
            <a:prstDash val="dash"/>
          </a:ln>
        </p:spPr>
      </p:sp>
      <p:sp>
        <p:nvSpPr>
          <p:cNvPr id="17" name="TextBox"/>
          <p:cNvSpPr txBox="1"/>
          <p:nvPr/>
        </p:nvSpPr>
        <p:spPr>
          <a:xfrm>
            <a:off x="11795760" y="144475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100">
                <a:solidFill>
                  <a:srgbClr val="374151"/>
                </a:solidFill>
                <a:latin typeface="Arial"/>
                <a:ea typeface="Malgun Gothic"/>
              </a:rPr>
              <a:t>Optional start point</a:t>
            </a:r>
            <a:endParaRPr lang="ko-KR" sz="1100"/>
          </a:p>
        </p:txBody>
      </p:sp>
      <p:sp>
        <p:nvSpPr>
          <p:cNvPr id="18" name="FASTQ input"/>
          <p:cNvSpPr/>
          <p:nvPr/>
        </p:nvSpPr>
        <p:spPr>
          <a:xfrm>
            <a:off x="5486400" y="932688"/>
            <a:ext cx="329184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19" name="FASTQ input stripe"/>
          <p:cNvSpPr/>
          <p:nvPr/>
        </p:nvSpPr>
        <p:spPr>
          <a:xfrm>
            <a:off x="5486400" y="932688"/>
            <a:ext cx="73152" cy="749808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20" name="FASTQ input text"/>
          <p:cNvSpPr txBox="1"/>
          <p:nvPr/>
        </p:nvSpPr>
        <p:spPr>
          <a:xfrm>
            <a:off x="5687568" y="1097280"/>
            <a:ext cx="2944368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00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FASTQ directory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sample_R1/R2/I1/I2 fastq.gz</a:t>
            </a:r>
            <a:endParaRPr lang="ko-KR" sz="1300"/>
          </a:p>
        </p:txBody>
      </p:sp>
      <p:sp>
        <p:nvSpPr>
          <p:cNvPr id="21" name="Pill cellranger"/>
          <p:cNvSpPr/>
          <p:nvPr/>
        </p:nvSpPr>
        <p:spPr>
          <a:xfrm>
            <a:off x="6528816" y="1874520"/>
            <a:ext cx="1207008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22" name="Pill text cellranger"/>
          <p:cNvSpPr txBox="1"/>
          <p:nvPr/>
        </p:nvSpPr>
        <p:spPr>
          <a:xfrm>
            <a:off x="6528816" y="1938528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cellranger</a:t>
            </a:r>
            <a:endParaRPr lang="ko-KR" sz="1200"/>
          </a:p>
        </p:txBody>
      </p:sp>
      <p:cxnSp>
        <p:nvCxnSpPr>
          <p:cNvPr id="23" name="FASTQ to cellranger"/>
          <p:cNvCxnSpPr/>
          <p:nvPr/>
        </p:nvCxnSpPr>
        <p:spPr>
          <a:xfrm>
            <a:off x="7132320" y="1682496"/>
            <a:ext cx="914" cy="19202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24" name="10x Reference"/>
          <p:cNvSpPr/>
          <p:nvPr/>
        </p:nvSpPr>
        <p:spPr>
          <a:xfrm>
            <a:off x="1463040" y="1956816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25" name="10x Reference stripe"/>
          <p:cNvSpPr/>
          <p:nvPr/>
        </p:nvSpPr>
        <p:spPr>
          <a:xfrm>
            <a:off x="1463040" y="1956816"/>
            <a:ext cx="73152" cy="841248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26" name="10x Reference text"/>
          <p:cNvSpPr txBox="1"/>
          <p:nvPr/>
        </p:nvSpPr>
        <p:spPr>
          <a:xfrm>
            <a:off x="1664208" y="2121408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10x Reference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User supplied transcriptome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refdata-gex-GRCm39/GRCh38</a:t>
            </a:r>
            <a:endParaRPr lang="ko-KR" sz="1300"/>
          </a:p>
        </p:txBody>
      </p:sp>
      <p:cxnSp>
        <p:nvCxnSpPr>
          <p:cNvPr id="27" name="Reference to cellranger"/>
          <p:cNvCxnSpPr/>
          <p:nvPr/>
        </p:nvCxnSpPr>
        <p:spPr>
          <a:xfrm flipV="1">
            <a:off x="4480560" y="2011680"/>
            <a:ext cx="2048256" cy="365760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28" name="Cell Ranger Count"/>
          <p:cNvSpPr/>
          <p:nvPr/>
        </p:nvSpPr>
        <p:spPr>
          <a:xfrm>
            <a:off x="5486400" y="2322576"/>
            <a:ext cx="32918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29" name="Cell Ranger Count stripe"/>
          <p:cNvSpPr/>
          <p:nvPr/>
        </p:nvSpPr>
        <p:spPr>
          <a:xfrm>
            <a:off x="5486400" y="2322576"/>
            <a:ext cx="73152" cy="80467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0" name="Cell Ranger Count text"/>
          <p:cNvSpPr txBox="1"/>
          <p:nvPr/>
        </p:nvSpPr>
        <p:spPr>
          <a:xfrm>
            <a:off x="5687568" y="2487168"/>
            <a:ext cx="2944368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01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Cell Ranger Count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raw_feature_bc_matrix.h5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filtered matrix, metrics, web summary</a:t>
            </a:r>
            <a:endParaRPr lang="ko-KR" sz="1300"/>
          </a:p>
        </p:txBody>
      </p:sp>
      <p:sp>
        <p:nvSpPr>
          <p:cNvPr id="31" name="Pill CellBender"/>
          <p:cNvSpPr/>
          <p:nvPr/>
        </p:nvSpPr>
        <p:spPr>
          <a:xfrm>
            <a:off x="6492240" y="3310128"/>
            <a:ext cx="1280160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32" name="Pill text CellBender"/>
          <p:cNvSpPr txBox="1"/>
          <p:nvPr/>
        </p:nvSpPr>
        <p:spPr>
          <a:xfrm>
            <a:off x="6492240" y="3374136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CellBender</a:t>
            </a:r>
            <a:endParaRPr lang="ko-KR" sz="1200"/>
          </a:p>
        </p:txBody>
      </p:sp>
      <p:cxnSp>
        <p:nvCxnSpPr>
          <p:cNvPr id="33" name="cellranger to cellbender"/>
          <p:cNvCxnSpPr/>
          <p:nvPr/>
        </p:nvCxnSpPr>
        <p:spPr>
          <a:xfrm>
            <a:off x="7132320" y="3127248"/>
            <a:ext cx="914" cy="182880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34" name="Optional raw_h5"/>
          <p:cNvSpPr/>
          <p:nvPr/>
        </p:nvSpPr>
        <p:spPr>
          <a:xfrm>
            <a:off x="1060704" y="3474720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  <a:prstDash val="dash"/>
          </a:ln>
        </p:spPr>
      </p:sp>
      <p:sp>
        <p:nvSpPr>
          <p:cNvPr id="35" name="Optional raw_h5 text"/>
          <p:cNvSpPr txBox="1"/>
          <p:nvPr/>
        </p:nvSpPr>
        <p:spPr>
          <a:xfrm>
            <a:off x="1261872" y="3639312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Optional start: raw_h5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start_step=cellbender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10x raw feature matrix H5</a:t>
            </a:r>
            <a:endParaRPr lang="ko-KR" sz="1300"/>
          </a:p>
        </p:txBody>
      </p:sp>
      <p:cxnSp>
        <p:nvCxnSpPr>
          <p:cNvPr id="36" name="raw_h5 optional to step2"/>
          <p:cNvCxnSpPr/>
          <p:nvPr/>
        </p:nvCxnSpPr>
        <p:spPr>
          <a:xfrm>
            <a:off x="4078224" y="3895344"/>
            <a:ext cx="1408176" cy="914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37" name="CellBender"/>
          <p:cNvSpPr/>
          <p:nvPr/>
        </p:nvSpPr>
        <p:spPr>
          <a:xfrm>
            <a:off x="5486400" y="3675888"/>
            <a:ext cx="32918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38" name="CellBender stripe"/>
          <p:cNvSpPr/>
          <p:nvPr/>
        </p:nvSpPr>
        <p:spPr>
          <a:xfrm>
            <a:off x="5486400" y="3675888"/>
            <a:ext cx="73152" cy="80467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9" name="CellBender text"/>
          <p:cNvSpPr txBox="1"/>
          <p:nvPr/>
        </p:nvSpPr>
        <p:spPr>
          <a:xfrm>
            <a:off x="5687568" y="3840480"/>
            <a:ext cx="2944368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02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Remove Background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{sample}.cellbender_cleaned.h5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background-corrected count matrix</a:t>
            </a:r>
            <a:endParaRPr lang="ko-KR" sz="1300"/>
          </a:p>
        </p:txBody>
      </p:sp>
      <p:sp>
        <p:nvSpPr>
          <p:cNvPr id="40" name="Pill Scanpy"/>
          <p:cNvSpPr/>
          <p:nvPr/>
        </p:nvSpPr>
        <p:spPr>
          <a:xfrm>
            <a:off x="6565392" y="4681728"/>
            <a:ext cx="1133856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41" name="Pill text Scanpy"/>
          <p:cNvSpPr txBox="1"/>
          <p:nvPr/>
        </p:nvSpPr>
        <p:spPr>
          <a:xfrm>
            <a:off x="6565392" y="4745736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Scanpy</a:t>
            </a:r>
            <a:endParaRPr lang="ko-KR" sz="1200"/>
          </a:p>
        </p:txBody>
      </p:sp>
      <p:cxnSp>
        <p:nvCxnSpPr>
          <p:cNvPr id="42" name="cellbender to scanpy"/>
          <p:cNvCxnSpPr/>
          <p:nvPr/>
        </p:nvCxnSpPr>
        <p:spPr>
          <a:xfrm>
            <a:off x="7132320" y="4480560"/>
            <a:ext cx="914" cy="201168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43" name="Optional cellbender_h5"/>
          <p:cNvSpPr/>
          <p:nvPr/>
        </p:nvSpPr>
        <p:spPr>
          <a:xfrm>
            <a:off x="1060704" y="4901184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  <a:prstDash val="dash"/>
          </a:ln>
        </p:spPr>
      </p:sp>
      <p:sp>
        <p:nvSpPr>
          <p:cNvPr id="44" name="Optional cellbender_h5 text"/>
          <p:cNvSpPr txBox="1"/>
          <p:nvPr/>
        </p:nvSpPr>
        <p:spPr>
          <a:xfrm>
            <a:off x="1261872" y="5065776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Optional start: cellbender_h5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start_step=qc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CellBender cleaned H5</a:t>
            </a:r>
            <a:endParaRPr lang="ko-KR" sz="1300"/>
          </a:p>
        </p:txBody>
      </p:sp>
      <p:cxnSp>
        <p:nvCxnSpPr>
          <p:cNvPr id="45" name="cellbender_h5 optional to step3"/>
          <p:cNvCxnSpPr/>
          <p:nvPr/>
        </p:nvCxnSpPr>
        <p:spPr>
          <a:xfrm>
            <a:off x="4078224" y="5321808"/>
            <a:ext cx="1408176" cy="914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46" name="Scanpy QC"/>
          <p:cNvSpPr/>
          <p:nvPr/>
        </p:nvSpPr>
        <p:spPr>
          <a:xfrm>
            <a:off x="5486400" y="5047488"/>
            <a:ext cx="3291840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47" name="Scanpy QC stripe"/>
          <p:cNvSpPr/>
          <p:nvPr/>
        </p:nvSpPr>
        <p:spPr>
          <a:xfrm>
            <a:off x="5486400" y="5047488"/>
            <a:ext cx="73152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48" name="Scanpy QC text"/>
          <p:cNvSpPr txBox="1"/>
          <p:nvPr/>
        </p:nvSpPr>
        <p:spPr>
          <a:xfrm>
            <a:off x="5687568" y="5212080"/>
            <a:ext cx="2944368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03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Scanpy QC for SOLO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Remove pct_counts_mt &gt;= 20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full.h5ad + hvg2000.h5ad + QC CSV</a:t>
            </a:r>
            <a:endParaRPr lang="ko-KR" sz="1300"/>
          </a:p>
        </p:txBody>
      </p:sp>
      <p:sp>
        <p:nvSpPr>
          <p:cNvPr id="49" name="Pill SOLO"/>
          <p:cNvSpPr/>
          <p:nvPr/>
        </p:nvSpPr>
        <p:spPr>
          <a:xfrm>
            <a:off x="6565392" y="6163056"/>
            <a:ext cx="1133856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50" name="Pill text SOLO"/>
          <p:cNvSpPr txBox="1"/>
          <p:nvPr/>
        </p:nvSpPr>
        <p:spPr>
          <a:xfrm>
            <a:off x="6565392" y="6227064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SOLO</a:t>
            </a:r>
            <a:endParaRPr lang="ko-KR" sz="1200"/>
          </a:p>
        </p:txBody>
      </p:sp>
      <p:cxnSp>
        <p:nvCxnSpPr>
          <p:cNvPr id="51" name="scanpy to solo"/>
          <p:cNvCxnSpPr/>
          <p:nvPr/>
        </p:nvCxnSpPr>
        <p:spPr>
          <a:xfrm>
            <a:off x="7132320" y="5998464"/>
            <a:ext cx="914" cy="16459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52" name="SOLO doublet scoring"/>
          <p:cNvSpPr/>
          <p:nvPr/>
        </p:nvSpPr>
        <p:spPr>
          <a:xfrm>
            <a:off x="5486400" y="6601968"/>
            <a:ext cx="329184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53" name="SOLO doublet scoring stripe"/>
          <p:cNvSpPr/>
          <p:nvPr/>
        </p:nvSpPr>
        <p:spPr>
          <a:xfrm>
            <a:off x="5486400" y="6601968"/>
            <a:ext cx="73152" cy="80467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4" name="SOLO doublet scoring text"/>
          <p:cNvSpPr txBox="1"/>
          <p:nvPr/>
        </p:nvSpPr>
        <p:spPr>
          <a:xfrm>
            <a:off x="5687568" y="6766560"/>
            <a:ext cx="2944368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04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SOLO Doublet Scoring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{sample}.solo/soloed.h5ad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doublet scores and labels</a:t>
            </a:r>
            <a:endParaRPr lang="ko-KR" sz="1300"/>
          </a:p>
        </p:txBody>
      </p:sp>
      <p:cxnSp>
        <p:nvCxnSpPr>
          <p:cNvPr id="55" name="SOLO pill to step4"/>
          <p:cNvCxnSpPr/>
          <p:nvPr/>
        </p:nvCxnSpPr>
        <p:spPr>
          <a:xfrm>
            <a:off x="7132320" y="6437376"/>
            <a:ext cx="914" cy="16459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56" name="Pill filter_singlets"/>
          <p:cNvSpPr/>
          <p:nvPr/>
        </p:nvSpPr>
        <p:spPr>
          <a:xfrm>
            <a:off x="6345936" y="7571232"/>
            <a:ext cx="1572768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57" name="Pill text filter_singlets"/>
          <p:cNvSpPr txBox="1"/>
          <p:nvPr/>
        </p:nvSpPr>
        <p:spPr>
          <a:xfrm>
            <a:off x="6345936" y="7635240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filter_singlets</a:t>
            </a:r>
            <a:endParaRPr lang="ko-KR" sz="1200"/>
          </a:p>
        </p:txBody>
      </p:sp>
      <p:cxnSp>
        <p:nvCxnSpPr>
          <p:cNvPr id="58" name="solo to filter"/>
          <p:cNvCxnSpPr/>
          <p:nvPr/>
        </p:nvCxnSpPr>
        <p:spPr>
          <a:xfrm>
            <a:off x="7132320" y="7406640"/>
            <a:ext cx="914" cy="16459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59" name="Filter singlets"/>
          <p:cNvSpPr/>
          <p:nvPr/>
        </p:nvSpPr>
        <p:spPr>
          <a:xfrm>
            <a:off x="5486400" y="8010144"/>
            <a:ext cx="3291840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60" name="Filter singlets stripe"/>
          <p:cNvSpPr/>
          <p:nvPr/>
        </p:nvSpPr>
        <p:spPr>
          <a:xfrm>
            <a:off x="5486400" y="8010144"/>
            <a:ext cx="73152" cy="877824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61" name="Filter singlets text"/>
          <p:cNvSpPr txBox="1"/>
          <p:nvPr/>
        </p:nvSpPr>
        <p:spPr>
          <a:xfrm>
            <a:off x="5687568" y="8174736"/>
            <a:ext cx="2944368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05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Filter SOLO Singlets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annotated full + singlet-only H5AD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SOLO labels, scores, doublet barcodes</a:t>
            </a:r>
            <a:endParaRPr lang="ko-KR" sz="1300"/>
          </a:p>
        </p:txBody>
      </p:sp>
      <p:cxnSp>
        <p:nvCxnSpPr>
          <p:cNvPr id="62" name="filter pill to step5"/>
          <p:cNvCxnSpPr/>
          <p:nvPr/>
        </p:nvCxnSpPr>
        <p:spPr>
          <a:xfrm>
            <a:off x="7132320" y="7845552"/>
            <a:ext cx="914" cy="16459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63" name="Pill merge_qc"/>
          <p:cNvSpPr/>
          <p:nvPr/>
        </p:nvSpPr>
        <p:spPr>
          <a:xfrm>
            <a:off x="6620256" y="9052560"/>
            <a:ext cx="1024128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64" name="Pill text merge_qc"/>
          <p:cNvSpPr txBox="1"/>
          <p:nvPr/>
        </p:nvSpPr>
        <p:spPr>
          <a:xfrm>
            <a:off x="6620256" y="9116568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merge_qc</a:t>
            </a:r>
            <a:endParaRPr lang="ko-KR" sz="1200"/>
          </a:p>
        </p:txBody>
      </p:sp>
      <p:cxnSp>
        <p:nvCxnSpPr>
          <p:cNvPr id="65" name="filter to merge"/>
          <p:cNvCxnSpPr/>
          <p:nvPr/>
        </p:nvCxnSpPr>
        <p:spPr>
          <a:xfrm>
            <a:off x="7132320" y="8887968"/>
            <a:ext cx="914" cy="16459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66" name="QC summary merge"/>
          <p:cNvSpPr/>
          <p:nvPr/>
        </p:nvSpPr>
        <p:spPr>
          <a:xfrm>
            <a:off x="5486400" y="9473184"/>
            <a:ext cx="3291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67" name="QC summary merge stripe"/>
          <p:cNvSpPr/>
          <p:nvPr/>
        </p:nvSpPr>
        <p:spPr>
          <a:xfrm>
            <a:off x="5486400" y="9473184"/>
            <a:ext cx="73152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68" name="QC summary merge text"/>
          <p:cNvSpPr txBox="1"/>
          <p:nvPr/>
        </p:nvSpPr>
        <p:spPr>
          <a:xfrm>
            <a:off x="5687568" y="9637776"/>
            <a:ext cx="2944368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06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QC Summary Merge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QC metrics + SOLO summary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reporting table only</a:t>
            </a:r>
            <a:endParaRPr lang="ko-KR" sz="1300"/>
          </a:p>
        </p:txBody>
      </p:sp>
      <p:cxnSp>
        <p:nvCxnSpPr>
          <p:cNvPr id="69" name="merge pill to step6"/>
          <p:cNvCxnSpPr/>
          <p:nvPr/>
        </p:nvCxnSpPr>
        <p:spPr>
          <a:xfrm>
            <a:off x="7132320" y="9326880"/>
            <a:ext cx="914" cy="14630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70" name="Final h5ad"/>
          <p:cNvSpPr/>
          <p:nvPr/>
        </p:nvSpPr>
        <p:spPr>
          <a:xfrm>
            <a:off x="9509760" y="8028432"/>
            <a:ext cx="384048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71" name="Final h5ad stripe"/>
          <p:cNvSpPr/>
          <p:nvPr/>
        </p:nvSpPr>
        <p:spPr>
          <a:xfrm>
            <a:off x="9509760" y="8028432"/>
            <a:ext cx="73152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2" name="Final h5ad text"/>
          <p:cNvSpPr txBox="1"/>
          <p:nvPr/>
        </p:nvSpPr>
        <p:spPr>
          <a:xfrm>
            <a:off x="9710928" y="8193024"/>
            <a:ext cx="349300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Final Cell-level H5ADs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{sample}_qc_solo_annotated_full.h5ad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{sample}_qc_solo_singlets_full.h5ad</a:t>
            </a:r>
            <a:endParaRPr lang="ko-KR" sz="1300"/>
          </a:p>
        </p:txBody>
      </p:sp>
      <p:cxnSp>
        <p:nvCxnSpPr>
          <p:cNvPr id="73" name="step5 to final h5ads"/>
          <p:cNvCxnSpPr/>
          <p:nvPr/>
        </p:nvCxnSpPr>
        <p:spPr>
          <a:xfrm>
            <a:off x="8778240" y="8449056"/>
            <a:ext cx="731520" cy="91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74" name="Final QC table"/>
          <p:cNvSpPr/>
          <p:nvPr/>
        </p:nvSpPr>
        <p:spPr>
          <a:xfrm>
            <a:off x="9509760" y="9491472"/>
            <a:ext cx="27432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75" name="Final QC table stripe"/>
          <p:cNvSpPr/>
          <p:nvPr/>
        </p:nvSpPr>
        <p:spPr>
          <a:xfrm>
            <a:off x="9509760" y="949147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6" name="Final QC table text"/>
          <p:cNvSpPr txBox="1"/>
          <p:nvPr/>
        </p:nvSpPr>
        <p:spPr>
          <a:xfrm>
            <a:off x="9710928" y="9656064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Final QC Table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scrnaseq_qc_summary.csv</a:t>
            </a:r>
            <a:endParaRPr lang="ko-KR" sz="1300"/>
          </a:p>
        </p:txBody>
      </p:sp>
      <p:cxnSp>
        <p:nvCxnSpPr>
          <p:cNvPr id="77" name="step6 to final table"/>
          <p:cNvCxnSpPr/>
          <p:nvPr/>
        </p:nvCxnSpPr>
        <p:spPr>
          <a:xfrm>
            <a:off x="8778240" y="9838944"/>
            <a:ext cx="731520" cy="91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78" name="full h5ad consumed by step5"/>
          <p:cNvCxnSpPr/>
          <p:nvPr/>
        </p:nvCxnSpPr>
        <p:spPr>
          <a:xfrm>
            <a:off x="8778240" y="5522976"/>
            <a:ext cx="731520" cy="2651760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79" name="TextBox"/>
          <p:cNvSpPr txBox="1"/>
          <p:nvPr/>
        </p:nvSpPr>
        <p:spPr>
          <a:xfrm>
            <a:off x="9582912" y="63093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200">
                <a:solidFill>
                  <a:srgbClr val="6B7280"/>
                </a:solidFill>
                <a:latin typeface="Arial"/>
                <a:ea typeface="Malgun Gothic"/>
              </a:rPr>
              <a:t>03 full QC H5AD is used again in 05</a:t>
            </a:r>
            <a:endParaRPr lang="ko-KR" sz="1200"/>
          </a:p>
        </p:txBody>
      </p:sp>
      <p:cxnSp>
        <p:nvCxnSpPr>
          <p:cNvPr id="80" name="qc metrics consumed by step6"/>
          <p:cNvCxnSpPr/>
          <p:nvPr/>
        </p:nvCxnSpPr>
        <p:spPr>
          <a:xfrm>
            <a:off x="8778240" y="5522976"/>
            <a:ext cx="731520" cy="4151376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81" name="TextBox"/>
          <p:cNvSpPr txBox="1"/>
          <p:nvPr/>
        </p:nvSpPr>
        <p:spPr>
          <a:xfrm>
            <a:off x="9582912" y="67482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200">
                <a:solidFill>
                  <a:srgbClr val="6B7280"/>
                </a:solidFill>
                <a:latin typeface="Arial"/>
                <a:ea typeface="Malgun Gothic"/>
              </a:rPr>
              <a:t>03 QC metrics + 05 SOLO summary feed 06</a:t>
            </a:r>
            <a:endParaRPr lang="ko-KR" sz="1200"/>
          </a:p>
        </p:txBody>
      </p:sp>
      <p:sp>
        <p:nvSpPr>
          <p:cNvPr id="82" name="TextBox"/>
          <p:cNvSpPr txBox="1"/>
          <p:nvPr/>
        </p:nvSpPr>
        <p:spPr>
          <a:xfrm>
            <a:off x="530352" y="105156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>
                <a:solidFill>
                  <a:srgbClr val="4B5563"/>
                </a:solidFill>
                <a:latin typeface="Arial"/>
                <a:ea typeface="Malgun Gothic"/>
              </a:rPr>
              <a:t>Configurable CSV start_step: cellranger, cellbender, or qc. Species is set by the user-supplied Cell Ranger transcriptome reference.</a:t>
            </a:r>
            <a:endParaRPr lang="ko-KR" sz="1300"/>
          </a:p>
          <a:p>
            <a:r>
              <a:rPr lang="ko-KR" sz="1300">
                <a:solidFill>
                  <a:srgbClr val="4B5563"/>
                </a:solidFill>
                <a:latin typeface="Arial"/>
                <a:ea typeface="Malgun Gothic"/>
              </a:rPr>
              <a:t>Default QC: pct_counts_mt &lt; 20, min_genes=200, min_counts=500, min_cells_gene=5, HVG=2000.</a:t>
            </a:r>
            <a:endParaRPr lang="ko-KR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530352" y="329184"/>
            <a:ext cx="95097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2800" b="1">
                <a:solidFill>
                  <a:srgbClr val="1F2937"/>
                </a:solidFill>
                <a:latin typeface="Arial"/>
                <a:ea typeface="Malgun Gothic"/>
              </a:rPr>
              <a:t>04 SOLO 이후 05와 06의 관계</a:t>
            </a:r>
            <a:endParaRPr lang="ko-KR" sz="2800"/>
          </a:p>
          <a:p>
            <a:r>
              <a:rPr lang="ko-KR" sz="1600">
                <a:solidFill>
                  <a:srgbClr val="4B5563"/>
                </a:solidFill>
                <a:latin typeface="Arial"/>
                <a:ea typeface="Malgun Gothic"/>
              </a:rPr>
              <a:t>04는 doublet 판정 결과를 만들고, 05는 그 결과로 h5ad를 필터링하며, 06은 CSV 요약만 합칩니다.</a:t>
            </a:r>
            <a:endParaRPr lang="ko-KR" sz="1600"/>
          </a:p>
        </p:txBody>
      </p:sp>
      <p:sp>
        <p:nvSpPr>
          <p:cNvPr id="3" name="Full QC h5ad"/>
          <p:cNvSpPr/>
          <p:nvPr/>
        </p:nvSpPr>
        <p:spPr>
          <a:xfrm>
            <a:off x="1005840" y="15544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4" name="Full QC h5ad stripe"/>
          <p:cNvSpPr/>
          <p:nvPr/>
        </p:nvSpPr>
        <p:spPr>
          <a:xfrm>
            <a:off x="1005840" y="15544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" name="Full QC h5ad text"/>
          <p:cNvSpPr txBox="1"/>
          <p:nvPr/>
        </p:nvSpPr>
        <p:spPr>
          <a:xfrm>
            <a:off x="1207008" y="17190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03 output A</a:t>
            </a:r>
            <a:endParaRPr lang="ko-KR" sz="1300"/>
          </a:p>
          <a:p>
            <a:r>
              <a:rPr lang="ko-KR" sz="2000" b="1">
                <a:solidFill>
                  <a:srgbClr val="111827"/>
                </a:solidFill>
                <a:latin typeface="Arial"/>
                <a:ea typeface="Malgun Gothic"/>
              </a:rPr>
              <a:t>Full QC H5AD</a:t>
            </a:r>
            <a:endParaRPr lang="ko-KR" sz="2000"/>
          </a:p>
          <a:p>
            <a:r>
              <a:rPr lang="ko-KR" sz="1400">
                <a:solidFill>
                  <a:srgbClr val="374151"/>
                </a:solidFill>
                <a:latin typeface="Arial"/>
                <a:ea typeface="Malgun Gothic"/>
              </a:rPr>
              <a:t>{sample}_qc_full.h5ad</a:t>
            </a:r>
            <a:endParaRPr lang="ko-KR" sz="14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미토콘드리아/유전자/카운트 QC는 통과했지만 doublet은 아직 제거되지 않음</a:t>
            </a:r>
            <a:endParaRPr lang="ko-KR" sz="1300"/>
          </a:p>
        </p:txBody>
      </p:sp>
      <p:sp>
        <p:nvSpPr>
          <p:cNvPr id="6" name="HVG h5ad"/>
          <p:cNvSpPr/>
          <p:nvPr/>
        </p:nvSpPr>
        <p:spPr>
          <a:xfrm>
            <a:off x="1005840" y="33832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7" name="HVG h5ad stripe"/>
          <p:cNvSpPr/>
          <p:nvPr/>
        </p:nvSpPr>
        <p:spPr>
          <a:xfrm>
            <a:off x="1005840" y="33832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8" name="HVG h5ad text"/>
          <p:cNvSpPr txBox="1"/>
          <p:nvPr/>
        </p:nvSpPr>
        <p:spPr>
          <a:xfrm>
            <a:off x="1207008" y="35478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03 output B</a:t>
            </a:r>
            <a:endParaRPr lang="ko-KR" sz="1300"/>
          </a:p>
          <a:p>
            <a:r>
              <a:rPr lang="ko-KR" sz="2000" b="1">
                <a:solidFill>
                  <a:srgbClr val="111827"/>
                </a:solidFill>
                <a:latin typeface="Arial"/>
                <a:ea typeface="Malgun Gothic"/>
              </a:rPr>
              <a:t>HVG H5AD for SOLO</a:t>
            </a:r>
            <a:endParaRPr lang="ko-KR" sz="2000"/>
          </a:p>
          <a:p>
            <a:r>
              <a:rPr lang="ko-KR" sz="1400">
                <a:solidFill>
                  <a:srgbClr val="374151"/>
                </a:solidFill>
                <a:latin typeface="Arial"/>
                <a:ea typeface="Malgun Gothic"/>
              </a:rPr>
              <a:t>{sample}_qc_hvg2000.h5ad</a:t>
            </a:r>
            <a:endParaRPr lang="ko-KR" sz="14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SOLO 학습/판정용 HVG subset</a:t>
            </a:r>
            <a:endParaRPr lang="ko-KR" sz="1300"/>
          </a:p>
        </p:txBody>
      </p:sp>
      <p:sp>
        <p:nvSpPr>
          <p:cNvPr id="9" name="SOLO explanation"/>
          <p:cNvSpPr/>
          <p:nvPr/>
        </p:nvSpPr>
        <p:spPr>
          <a:xfrm>
            <a:off x="5669280" y="2743200"/>
            <a:ext cx="329184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0" name="SOLO explanation stripe"/>
          <p:cNvSpPr/>
          <p:nvPr/>
        </p:nvSpPr>
        <p:spPr>
          <a:xfrm>
            <a:off x="5669280" y="2743200"/>
            <a:ext cx="73152" cy="135331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1" name="SOLO explanation text"/>
          <p:cNvSpPr txBox="1"/>
          <p:nvPr/>
        </p:nvSpPr>
        <p:spPr>
          <a:xfrm>
            <a:off x="5870448" y="2907792"/>
            <a:ext cx="2944368" cy="11521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04</a:t>
            </a:r>
            <a:endParaRPr lang="ko-KR" sz="1300"/>
          </a:p>
          <a:p>
            <a:r>
              <a:rPr lang="ko-KR" sz="2000" b="1">
                <a:solidFill>
                  <a:srgbClr val="111827"/>
                </a:solidFill>
                <a:latin typeface="Arial"/>
                <a:ea typeface="Malgun Gothic"/>
              </a:rPr>
              <a:t>SOLO Doublet Scoring</a:t>
            </a:r>
            <a:endParaRPr lang="ko-KR" sz="2000"/>
          </a:p>
          <a:p>
            <a:r>
              <a:rPr lang="ko-KR" sz="1400">
                <a:solidFill>
                  <a:srgbClr val="374151"/>
                </a:solidFill>
                <a:latin typeface="Arial"/>
                <a:ea typeface="Malgun Gothic"/>
              </a:rPr>
              <a:t>{sample}.solo/soloed.h5ad</a:t>
            </a:r>
            <a:endParaRPr lang="ko-KR" sz="14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각 barcode에 singlet/doublet label과 score를 부여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이 파일은 최종 full-gene matrix가 아니라 판정 결과에 가까움</a:t>
            </a:r>
            <a:endParaRPr lang="ko-KR" sz="1300"/>
          </a:p>
        </p:txBody>
      </p:sp>
      <p:sp>
        <p:nvSpPr>
          <p:cNvPr id="12" name="Filter explanation"/>
          <p:cNvSpPr/>
          <p:nvPr/>
        </p:nvSpPr>
        <p:spPr>
          <a:xfrm>
            <a:off x="10332720" y="1554480"/>
            <a:ext cx="329184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3" name="Filter explanation stripe"/>
          <p:cNvSpPr/>
          <p:nvPr/>
        </p:nvSpPr>
        <p:spPr>
          <a:xfrm>
            <a:off x="10332720" y="1554480"/>
            <a:ext cx="73152" cy="129844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4" name="Filter explanation text"/>
          <p:cNvSpPr txBox="1"/>
          <p:nvPr/>
        </p:nvSpPr>
        <p:spPr>
          <a:xfrm>
            <a:off x="10533888" y="1719072"/>
            <a:ext cx="2944368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05</a:t>
            </a:r>
            <a:endParaRPr lang="ko-KR" sz="1300"/>
          </a:p>
          <a:p>
            <a:r>
              <a:rPr lang="ko-KR" sz="2000" b="1">
                <a:solidFill>
                  <a:srgbClr val="111827"/>
                </a:solidFill>
                <a:latin typeface="Arial"/>
                <a:ea typeface="Malgun Gothic"/>
              </a:rPr>
              <a:t>Filter SOLO Singlets</a:t>
            </a:r>
            <a:endParaRPr lang="ko-KR" sz="2000"/>
          </a:p>
          <a:p>
            <a:r>
              <a:rPr lang="ko-KR" sz="1400">
                <a:solidFill>
                  <a:srgbClr val="374151"/>
                </a:solidFill>
                <a:latin typeface="Arial"/>
                <a:ea typeface="Malgun Gothic"/>
              </a:rPr>
              <a:t>Full QC H5AD + SOLO labels</a:t>
            </a:r>
            <a:endParaRPr lang="ko-KR" sz="14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SOLO label을 붙인 full h5ad와 doublet 제거 후 singlet-only h5ad 생성</a:t>
            </a:r>
            <a:endParaRPr lang="ko-KR" sz="1300"/>
          </a:p>
        </p:txBody>
      </p:sp>
      <p:sp>
        <p:nvSpPr>
          <p:cNvPr id="15" name="Merge explanation"/>
          <p:cNvSpPr/>
          <p:nvPr/>
        </p:nvSpPr>
        <p:spPr>
          <a:xfrm>
            <a:off x="10332720" y="33832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6" name="Merge explanation stripe"/>
          <p:cNvSpPr/>
          <p:nvPr/>
        </p:nvSpPr>
        <p:spPr>
          <a:xfrm>
            <a:off x="10332720" y="33832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7" name="Merge explanation text"/>
          <p:cNvSpPr txBox="1"/>
          <p:nvPr/>
        </p:nvSpPr>
        <p:spPr>
          <a:xfrm>
            <a:off x="10533888" y="35478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06</a:t>
            </a:r>
            <a:endParaRPr lang="ko-KR" sz="1300"/>
          </a:p>
          <a:p>
            <a:r>
              <a:rPr lang="ko-KR" sz="2000" b="1">
                <a:solidFill>
                  <a:srgbClr val="111827"/>
                </a:solidFill>
                <a:latin typeface="Arial"/>
                <a:ea typeface="Malgun Gothic"/>
              </a:rPr>
              <a:t>QC Summary Merge</a:t>
            </a:r>
            <a:endParaRPr lang="ko-KR" sz="2000"/>
          </a:p>
          <a:p>
            <a:r>
              <a:rPr lang="ko-KR" sz="1400">
                <a:solidFill>
                  <a:srgbClr val="374151"/>
                </a:solidFill>
                <a:latin typeface="Arial"/>
                <a:ea typeface="Malgun Gothic"/>
              </a:rPr>
              <a:t>scrnaseq_qc_summary.csv</a:t>
            </a:r>
            <a:endParaRPr lang="ko-KR" sz="14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03 QC metrics와 05 SOLO summary를 sample 단위로 합치는 reporting 단계</a:t>
            </a:r>
            <a:endParaRPr lang="ko-KR" sz="1300"/>
          </a:p>
        </p:txBody>
      </p:sp>
      <p:cxnSp>
        <p:nvCxnSpPr>
          <p:cNvPr id="18" name="full to filter"/>
          <p:cNvCxnSpPr/>
          <p:nvPr/>
        </p:nvCxnSpPr>
        <p:spPr>
          <a:xfrm>
            <a:off x="4297680" y="2157984"/>
            <a:ext cx="6035040" cy="91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19" name="hvg to solo"/>
          <p:cNvCxnSpPr/>
          <p:nvPr/>
        </p:nvCxnSpPr>
        <p:spPr>
          <a:xfrm flipV="1">
            <a:off x="4297680" y="3419856"/>
            <a:ext cx="1371600" cy="566928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20" name="solo to filter"/>
          <p:cNvCxnSpPr/>
          <p:nvPr/>
        </p:nvCxnSpPr>
        <p:spPr>
          <a:xfrm flipV="1">
            <a:off x="8961120" y="2157984"/>
            <a:ext cx="1371600" cy="126187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21" name="solo summary to merge"/>
          <p:cNvCxnSpPr/>
          <p:nvPr/>
        </p:nvCxnSpPr>
        <p:spPr>
          <a:xfrm>
            <a:off x="8961120" y="3419856"/>
            <a:ext cx="1371600" cy="566928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cxnSp>
        <p:nvCxnSpPr>
          <p:cNvPr id="22" name="qc metrics to merge"/>
          <p:cNvCxnSpPr/>
          <p:nvPr/>
        </p:nvCxnSpPr>
        <p:spPr>
          <a:xfrm>
            <a:off x="4297680" y="2157984"/>
            <a:ext cx="6035040" cy="1828800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sp>
        <p:nvSpPr>
          <p:cNvPr id="23" name="Before doublet output"/>
          <p:cNvSpPr/>
          <p:nvPr/>
        </p:nvSpPr>
        <p:spPr>
          <a:xfrm>
            <a:off x="1005840" y="6035040"/>
            <a:ext cx="55778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24" name="Before doublet output stripe"/>
          <p:cNvSpPr/>
          <p:nvPr/>
        </p:nvSpPr>
        <p:spPr>
          <a:xfrm>
            <a:off x="1005840" y="603504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5" name="Before doublet output text"/>
          <p:cNvSpPr txBox="1"/>
          <p:nvPr/>
        </p:nvSpPr>
        <p:spPr>
          <a:xfrm>
            <a:off x="1207008" y="6199632"/>
            <a:ext cx="5230368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SOLO 주석 포함, doublet 제거 전 h5ad</a:t>
            </a:r>
            <a:endParaRPr lang="ko-KR" sz="1600"/>
          </a:p>
          <a:p>
            <a:r>
              <a:rPr lang="ko-KR" sz="1500">
                <a:solidFill>
                  <a:srgbClr val="374151"/>
                </a:solidFill>
                <a:latin typeface="Arial"/>
                <a:ea typeface="Malgun Gothic"/>
              </a:rPr>
              <a:t>{sample}_qc_solo_annotated_full.h5ad</a:t>
            </a:r>
            <a:endParaRPr lang="ko-KR" sz="15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저장 위치: results/{sample}/05_singlets/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QC를 통과한 모든 cell을 유지하고 obs에 solo_is_doublet, solo_softmax_scores, solo_logit_scores를 추가합니다.</a:t>
            </a:r>
            <a:endParaRPr lang="ko-KR" sz="1300"/>
          </a:p>
        </p:txBody>
      </p:sp>
      <p:sp>
        <p:nvSpPr>
          <p:cNvPr id="26" name="After doublet output"/>
          <p:cNvSpPr/>
          <p:nvPr/>
        </p:nvSpPr>
        <p:spPr>
          <a:xfrm>
            <a:off x="8046720" y="6035040"/>
            <a:ext cx="55778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27" name="After doublet output stripe"/>
          <p:cNvSpPr/>
          <p:nvPr/>
        </p:nvSpPr>
        <p:spPr>
          <a:xfrm>
            <a:off x="8046720" y="603504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8" name="After doublet output text"/>
          <p:cNvSpPr txBox="1"/>
          <p:nvPr/>
        </p:nvSpPr>
        <p:spPr>
          <a:xfrm>
            <a:off x="8247888" y="6199632"/>
            <a:ext cx="5230368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Doublet 제거 후 h5ad</a:t>
            </a:r>
            <a:endParaRPr lang="ko-KR" sz="1600"/>
          </a:p>
          <a:p>
            <a:r>
              <a:rPr lang="ko-KR" sz="1500">
                <a:solidFill>
                  <a:srgbClr val="374151"/>
                </a:solidFill>
                <a:latin typeface="Arial"/>
                <a:ea typeface="Malgun Gothic"/>
              </a:rPr>
              <a:t>{sample}_qc_solo_singlets_full.h5ad</a:t>
            </a:r>
            <a:endParaRPr lang="ko-KR" sz="15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저장 위치: results/{sample}/05_singlets/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SOLO에서 doublet으로 판정된 barcode를 제거한 최종 분석용 full-gene matrix입니다.</a:t>
            </a:r>
            <a:endParaRPr lang="ko-KR" sz="1300"/>
          </a:p>
        </p:txBody>
      </p:sp>
      <p:sp>
        <p:nvSpPr>
          <p:cNvPr id="29" name="TextBox"/>
          <p:cNvSpPr txBox="1"/>
          <p:nvPr/>
        </p:nvSpPr>
        <p:spPr>
          <a:xfrm>
            <a:off x="1005840" y="804672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0F766E"/>
                </a:solidFill>
                <a:latin typeface="Arial"/>
                <a:ea typeface="Malgun Gothic"/>
              </a:rPr>
              <a:t>현재 파이프라인은 기본 QC 후 full h5ad, SOLO annotated full h5ad, SOLO singlet-only h5ad를 모두 저장합니다.</a:t>
            </a:r>
            <a:endParaRPr lang="ko-KR" sz="1600"/>
          </a:p>
          <a:p>
            <a:r>
              <a:rPr lang="ko-KR" sz="1500">
                <a:solidFill>
                  <a:srgbClr val="374151"/>
                </a:solidFill>
                <a:latin typeface="Arial"/>
                <a:ea typeface="Malgun Gothic"/>
              </a:rPr>
              <a:t>따라서 doublet 제거 전/후를 비교하거나, doublet 판정만 metadata로 유지한 분석을 따로 진행할 수 있습니다.</a:t>
            </a:r>
            <a:endParaRPr lang="ko-KR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14B8A6"/>
      </a:accent1>
      <a:accent2>
        <a:srgbClr val="F59E0B"/>
      </a:accent2>
      <a:accent3>
        <a:srgbClr val="6B7280"/>
      </a:accent3>
      <a:accent4>
        <a:srgbClr val="9CA3AF"/>
      </a:accent4>
      <a:accent5>
        <a:srgbClr val="4B5563"/>
      </a:accent5>
      <a:accent6>
        <a:srgbClr val="CBD5E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Malgun Gothic"/>
      </a:majorFont>
      <a:minorFont>
        <a:latin typeface="Arial"/>
        <a:ea typeface="Malgun Gothic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scRNA-seq QC Pipeline Diagram</dc:title>
  <dc:creator>Codex</dc:creator>
  <cp:lastModifiedBy>Codex</cp:lastModifiedBy>
  <dcterms:created xsi:type="dcterms:W3CDTF">2026-06-23T11:15:00.529392+00:00</dcterms:created>
  <dcterms:modified xsi:type="dcterms:W3CDTF">2026-06-23T11:15:00.529392+00:00</dcterms:modified>
</cp:coreProperties>
</file>