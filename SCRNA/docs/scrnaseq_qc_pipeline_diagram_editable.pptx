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630400" cy="1115568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292608"/>
            <a:ext cx="6949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2600" b="1">
                <a:solidFill>
                  <a:srgbClr val="1F2937"/>
                </a:solidFill>
                <a:latin typeface="Arial"/>
                <a:ea typeface="Malgun Gothic"/>
              </a:rPr>
              <a:t>K_map scRNA-seq Preprocessing and QC Pipeline</a:t>
            </a:r>
            <a:endParaRPr lang="en-US" sz="2600"/>
          </a:p>
          <a:p>
            <a:r>
              <a:rPr lang="en-US" sz="1400">
                <a:solidFill>
                  <a:srgbClr val="4B5563"/>
                </a:solidFill>
                <a:latin typeface="Arial"/>
                <a:ea typeface="Malgun Gothic"/>
              </a:rPr>
              <a:t>Cell Ranger SIF + CellBender + Scanpy QC + SOLO doublet filtering</a:t>
            </a:r>
            <a:endParaRPr lang="en-US" sz="1400"/>
          </a:p>
        </p:txBody>
      </p:sp>
      <p:sp>
        <p:nvSpPr>
          <p:cNvPr id="3" name="Legend"/>
          <p:cNvSpPr/>
          <p:nvPr/>
        </p:nvSpPr>
        <p:spPr>
          <a:xfrm>
            <a:off x="11338560" y="365760"/>
            <a:ext cx="274320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5E7EB"/>
            </a:solidFill>
          </a:ln>
        </p:spPr>
      </p:sp>
      <p:sp>
        <p:nvSpPr>
          <p:cNvPr id="4" name="Legend step"/>
          <p:cNvSpPr/>
          <p:nvPr/>
        </p:nvSpPr>
        <p:spPr>
          <a:xfrm>
            <a:off x="11521440" y="56692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" name="Legend step stripe"/>
          <p:cNvSpPr/>
          <p:nvPr/>
        </p:nvSpPr>
        <p:spPr>
          <a:xfrm>
            <a:off x="11521440" y="566928"/>
            <a:ext cx="731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" name="Legend step text"/>
          <p:cNvSpPr txBox="1"/>
          <p:nvPr/>
        </p:nvSpPr>
        <p:spPr>
          <a:xfrm>
            <a:off x="11722608" y="73152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7" name="TextBox"/>
          <p:cNvSpPr txBox="1"/>
          <p:nvPr/>
        </p:nvSpPr>
        <p:spPr>
          <a:xfrm>
            <a:off x="11795760" y="6217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Pipeline step</a:t>
            </a:r>
            <a:endParaRPr lang="en-US" sz="1100"/>
          </a:p>
        </p:txBody>
      </p:sp>
      <p:sp>
        <p:nvSpPr>
          <p:cNvPr id="8" name="Legend final"/>
          <p:cNvSpPr/>
          <p:nvPr/>
        </p:nvSpPr>
        <p:spPr>
          <a:xfrm>
            <a:off x="11521440" y="84124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9" name="Legend final stripe"/>
          <p:cNvSpPr/>
          <p:nvPr/>
        </p:nvSpPr>
        <p:spPr>
          <a:xfrm>
            <a:off x="11521440" y="84124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Legend final text"/>
          <p:cNvSpPr txBox="1"/>
          <p:nvPr/>
        </p:nvSpPr>
        <p:spPr>
          <a:xfrm>
            <a:off x="11722608" y="100584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1" name="TextBox"/>
          <p:cNvSpPr txBox="1"/>
          <p:nvPr/>
        </p:nvSpPr>
        <p:spPr>
          <a:xfrm>
            <a:off x="11795760" y="89611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Final output</a:t>
            </a:r>
            <a:endParaRPr lang="en-US" sz="1100"/>
          </a:p>
        </p:txBody>
      </p:sp>
      <p:sp>
        <p:nvSpPr>
          <p:cNvPr id="12" name="Legend ref"/>
          <p:cNvSpPr/>
          <p:nvPr/>
        </p:nvSpPr>
        <p:spPr>
          <a:xfrm>
            <a:off x="11521440" y="111556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3" name="Legend ref stripe"/>
          <p:cNvSpPr/>
          <p:nvPr/>
        </p:nvSpPr>
        <p:spPr>
          <a:xfrm>
            <a:off x="11521440" y="1115568"/>
            <a:ext cx="7315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4" name="Legend ref text"/>
          <p:cNvSpPr txBox="1"/>
          <p:nvPr/>
        </p:nvSpPr>
        <p:spPr>
          <a:xfrm>
            <a:off x="11722608" y="128016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5" name="TextBox"/>
          <p:cNvSpPr txBox="1"/>
          <p:nvPr/>
        </p:nvSpPr>
        <p:spPr>
          <a:xfrm>
            <a:off x="11795760" y="11704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Input / reference</a:t>
            </a:r>
            <a:endParaRPr lang="en-US" sz="1100"/>
          </a:p>
        </p:txBody>
      </p:sp>
      <p:sp>
        <p:nvSpPr>
          <p:cNvPr id="16" name="Legend optional"/>
          <p:cNvSpPr/>
          <p:nvPr/>
        </p:nvSpPr>
        <p:spPr>
          <a:xfrm>
            <a:off x="11521440" y="1389888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9CA3AF"/>
            </a:solidFill>
            <a:prstDash val="dash"/>
          </a:ln>
        </p:spPr>
      </p:sp>
      <p:sp>
        <p:nvSpPr>
          <p:cNvPr id="17" name="TextBox"/>
          <p:cNvSpPr txBox="1"/>
          <p:nvPr/>
        </p:nvSpPr>
        <p:spPr>
          <a:xfrm>
            <a:off x="11795760" y="14447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Optional start point</a:t>
            </a:r>
            <a:endParaRPr lang="en-US" sz="1100"/>
          </a:p>
        </p:txBody>
      </p:sp>
      <p:sp>
        <p:nvSpPr>
          <p:cNvPr id="18" name="FASTQ input"/>
          <p:cNvSpPr/>
          <p:nvPr/>
        </p:nvSpPr>
        <p:spPr>
          <a:xfrm>
            <a:off x="5394960" y="1024128"/>
            <a:ext cx="32918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9" name="FASTQ input stripe"/>
          <p:cNvSpPr/>
          <p:nvPr/>
        </p:nvSpPr>
        <p:spPr>
          <a:xfrm>
            <a:off x="5394960" y="1024128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0" name="FASTQ input text"/>
          <p:cNvSpPr txBox="1"/>
          <p:nvPr/>
        </p:nvSpPr>
        <p:spPr>
          <a:xfrm>
            <a:off x="5596128" y="1188720"/>
            <a:ext cx="294436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00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FASTQ directory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sample_R1/R2/I1/I2 fastq.gz</a:t>
            </a:r>
            <a:endParaRPr lang="en-US" sz="1300"/>
          </a:p>
        </p:txBody>
      </p:sp>
      <p:sp>
        <p:nvSpPr>
          <p:cNvPr id="21" name="Pill cellranger"/>
          <p:cNvSpPr/>
          <p:nvPr/>
        </p:nvSpPr>
        <p:spPr>
          <a:xfrm>
            <a:off x="6437376" y="2121408"/>
            <a:ext cx="120700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22" name="Pill text cellranger"/>
          <p:cNvSpPr txBox="1"/>
          <p:nvPr/>
        </p:nvSpPr>
        <p:spPr>
          <a:xfrm>
            <a:off x="6437376" y="218541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cellranger</a:t>
            </a:r>
            <a:endParaRPr lang="en-US" sz="1200"/>
          </a:p>
        </p:txBody>
      </p:sp>
      <p:cxnSp>
        <p:nvCxnSpPr>
          <p:cNvPr id="23" name="FASTQ to cellranger"/>
          <p:cNvCxnSpPr/>
          <p:nvPr/>
        </p:nvCxnSpPr>
        <p:spPr>
          <a:xfrm>
            <a:off x="7040880" y="1865376"/>
            <a:ext cx="914" cy="25603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4" name="10x Reference"/>
          <p:cNvSpPr/>
          <p:nvPr/>
        </p:nvSpPr>
        <p:spPr>
          <a:xfrm>
            <a:off x="1463040" y="2048256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25" name="10x Reference stripe"/>
          <p:cNvSpPr/>
          <p:nvPr/>
        </p:nvSpPr>
        <p:spPr>
          <a:xfrm>
            <a:off x="1463040" y="2048256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6" name="10x Reference text"/>
          <p:cNvSpPr txBox="1"/>
          <p:nvPr/>
        </p:nvSpPr>
        <p:spPr>
          <a:xfrm>
            <a:off x="1664208" y="221284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10x Reference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User supplied transcriptome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refdata-gex-GRCm39/GRCh38</a:t>
            </a:r>
            <a:endParaRPr lang="en-US" sz="1300"/>
          </a:p>
        </p:txBody>
      </p:sp>
      <p:cxnSp>
        <p:nvCxnSpPr>
          <p:cNvPr id="27" name="Reference to cellranger"/>
          <p:cNvCxnSpPr/>
          <p:nvPr/>
        </p:nvCxnSpPr>
        <p:spPr>
          <a:xfrm flipV="1">
            <a:off x="4480560" y="2267712"/>
            <a:ext cx="1956816" cy="20116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8" name="Cell Ranger Count"/>
          <p:cNvSpPr/>
          <p:nvPr/>
        </p:nvSpPr>
        <p:spPr>
          <a:xfrm>
            <a:off x="5394960" y="2670048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29" name="Cell Ranger Count stripe"/>
          <p:cNvSpPr/>
          <p:nvPr/>
        </p:nvSpPr>
        <p:spPr>
          <a:xfrm>
            <a:off x="5394960" y="2670048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0" name="Cell Ranger Count text"/>
          <p:cNvSpPr txBox="1"/>
          <p:nvPr/>
        </p:nvSpPr>
        <p:spPr>
          <a:xfrm>
            <a:off x="5596128" y="2834640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01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Cell Ranger Count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raw_feature_bc_matrix.h5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filtered matrix, metrics, web summary</a:t>
            </a:r>
            <a:endParaRPr lang="en-US" sz="1300"/>
          </a:p>
        </p:txBody>
      </p:sp>
      <p:sp>
        <p:nvSpPr>
          <p:cNvPr id="31" name="Pill CellBender"/>
          <p:cNvSpPr/>
          <p:nvPr/>
        </p:nvSpPr>
        <p:spPr>
          <a:xfrm>
            <a:off x="6400800" y="3931920"/>
            <a:ext cx="128016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32" name="Pill text CellBender"/>
          <p:cNvSpPr txBox="1"/>
          <p:nvPr/>
        </p:nvSpPr>
        <p:spPr>
          <a:xfrm>
            <a:off x="6400800" y="39959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CellBender</a:t>
            </a:r>
            <a:endParaRPr lang="en-US" sz="1200"/>
          </a:p>
        </p:txBody>
      </p:sp>
      <p:cxnSp>
        <p:nvCxnSpPr>
          <p:cNvPr id="33" name="cellranger to cellbender"/>
          <p:cNvCxnSpPr/>
          <p:nvPr/>
        </p:nvCxnSpPr>
        <p:spPr>
          <a:xfrm>
            <a:off x="7040880" y="3621024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34" name="Optional raw_h5"/>
          <p:cNvSpPr/>
          <p:nvPr/>
        </p:nvSpPr>
        <p:spPr>
          <a:xfrm>
            <a:off x="1060704" y="3913632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35" name="Optional raw_h5 text"/>
          <p:cNvSpPr txBox="1"/>
          <p:nvPr/>
        </p:nvSpPr>
        <p:spPr>
          <a:xfrm>
            <a:off x="1261872" y="4078224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Optional start: raw_h5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start_step=cellbender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10x raw feature matrix H5</a:t>
            </a:r>
            <a:endParaRPr lang="en-US" sz="1300"/>
          </a:p>
        </p:txBody>
      </p:sp>
      <p:cxnSp>
        <p:nvCxnSpPr>
          <p:cNvPr id="36" name="raw_h5 optional to step2"/>
          <p:cNvCxnSpPr/>
          <p:nvPr/>
        </p:nvCxnSpPr>
        <p:spPr>
          <a:xfrm>
            <a:off x="4078224" y="4334256"/>
            <a:ext cx="131673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37" name="CellBender"/>
          <p:cNvSpPr/>
          <p:nvPr/>
        </p:nvSpPr>
        <p:spPr>
          <a:xfrm>
            <a:off x="5394960" y="4480560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38" name="CellBender stripe"/>
          <p:cNvSpPr/>
          <p:nvPr/>
        </p:nvSpPr>
        <p:spPr>
          <a:xfrm>
            <a:off x="5394960" y="4480560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9" name="CellBender text"/>
          <p:cNvSpPr txBox="1"/>
          <p:nvPr/>
        </p:nvSpPr>
        <p:spPr>
          <a:xfrm>
            <a:off x="5596128" y="4645152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02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Remove Background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{sample}.cellbender_cleaned.h5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background-corrected count matrix</a:t>
            </a:r>
            <a:endParaRPr lang="en-US" sz="1300"/>
          </a:p>
        </p:txBody>
      </p:sp>
      <p:sp>
        <p:nvSpPr>
          <p:cNvPr id="40" name="Pill Scanpy"/>
          <p:cNvSpPr/>
          <p:nvPr/>
        </p:nvSpPr>
        <p:spPr>
          <a:xfrm>
            <a:off x="6473952" y="5742432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41" name="Pill text Scanpy"/>
          <p:cNvSpPr txBox="1"/>
          <p:nvPr/>
        </p:nvSpPr>
        <p:spPr>
          <a:xfrm>
            <a:off x="6473952" y="5806440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Scanpy</a:t>
            </a:r>
            <a:endParaRPr lang="en-US" sz="1200"/>
          </a:p>
        </p:txBody>
      </p:sp>
      <p:cxnSp>
        <p:nvCxnSpPr>
          <p:cNvPr id="42" name="cellbender to scanpy"/>
          <p:cNvCxnSpPr/>
          <p:nvPr/>
        </p:nvCxnSpPr>
        <p:spPr>
          <a:xfrm>
            <a:off x="7040880" y="5431536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43" name="Optional cellbender_h5"/>
          <p:cNvSpPr/>
          <p:nvPr/>
        </p:nvSpPr>
        <p:spPr>
          <a:xfrm>
            <a:off x="1060704" y="5724144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44" name="Optional cellbender_h5 text"/>
          <p:cNvSpPr txBox="1"/>
          <p:nvPr/>
        </p:nvSpPr>
        <p:spPr>
          <a:xfrm>
            <a:off x="1261872" y="5888736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Optional start: cellbender_h5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start_step=qc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CellBender cleaned H5</a:t>
            </a:r>
            <a:endParaRPr lang="en-US" sz="1300"/>
          </a:p>
        </p:txBody>
      </p:sp>
      <p:cxnSp>
        <p:nvCxnSpPr>
          <p:cNvPr id="45" name="cellbender_h5 optional to step3"/>
          <p:cNvCxnSpPr/>
          <p:nvPr/>
        </p:nvCxnSpPr>
        <p:spPr>
          <a:xfrm>
            <a:off x="4078224" y="6144768"/>
            <a:ext cx="131673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46" name="Scanpy QC"/>
          <p:cNvSpPr/>
          <p:nvPr/>
        </p:nvSpPr>
        <p:spPr>
          <a:xfrm>
            <a:off x="5394960" y="6291072"/>
            <a:ext cx="32918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7" name="Scanpy QC stripe"/>
          <p:cNvSpPr/>
          <p:nvPr/>
        </p:nvSpPr>
        <p:spPr>
          <a:xfrm>
            <a:off x="5394960" y="6291072"/>
            <a:ext cx="73152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8" name="Scanpy QC text"/>
          <p:cNvSpPr txBox="1"/>
          <p:nvPr/>
        </p:nvSpPr>
        <p:spPr>
          <a:xfrm>
            <a:off x="5596128" y="6455664"/>
            <a:ext cx="294436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Scanpy QC for SOLO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Remove pct_counts_mt &gt;= 20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min_genes, min_counts, min_cells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full.h5ad + hvg2000.h5ad + QC CSV</a:t>
            </a:r>
            <a:endParaRPr lang="en-US" sz="1300"/>
          </a:p>
        </p:txBody>
      </p:sp>
      <p:sp>
        <p:nvSpPr>
          <p:cNvPr id="49" name="Pill SOLO"/>
          <p:cNvSpPr/>
          <p:nvPr/>
        </p:nvSpPr>
        <p:spPr>
          <a:xfrm>
            <a:off x="10168128" y="5577840"/>
            <a:ext cx="95097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0" name="Pill text SOLO"/>
          <p:cNvSpPr txBox="1"/>
          <p:nvPr/>
        </p:nvSpPr>
        <p:spPr>
          <a:xfrm>
            <a:off x="10168128" y="5641848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SOLO</a:t>
            </a:r>
            <a:endParaRPr lang="en-US" sz="1200"/>
          </a:p>
        </p:txBody>
      </p:sp>
      <p:cxnSp>
        <p:nvCxnSpPr>
          <p:cNvPr id="51" name="SOLO pill to step4"/>
          <p:cNvCxnSpPr/>
          <p:nvPr/>
        </p:nvCxnSpPr>
        <p:spPr>
          <a:xfrm>
            <a:off x="10643616" y="5852160"/>
            <a:ext cx="914" cy="32918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2" name="SOLO doublet scoring"/>
          <p:cNvSpPr/>
          <p:nvPr/>
        </p:nvSpPr>
        <p:spPr>
          <a:xfrm>
            <a:off x="9345168" y="6181344"/>
            <a:ext cx="2596896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3" name="SOLO doublet scoring stripe"/>
          <p:cNvSpPr/>
          <p:nvPr/>
        </p:nvSpPr>
        <p:spPr>
          <a:xfrm>
            <a:off x="9345168" y="6181344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4" name="SOLO doublet scoring text"/>
          <p:cNvSpPr txBox="1"/>
          <p:nvPr/>
        </p:nvSpPr>
        <p:spPr>
          <a:xfrm>
            <a:off x="9546336" y="6345936"/>
            <a:ext cx="224942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doublet scores and labels</a:t>
            </a:r>
            <a:endParaRPr lang="en-US" sz="1300"/>
          </a:p>
        </p:txBody>
      </p:sp>
      <p:cxnSp>
        <p:nvCxnSpPr>
          <p:cNvPr id="55" name="HVG to SOLO"/>
          <p:cNvCxnSpPr/>
          <p:nvPr/>
        </p:nvCxnSpPr>
        <p:spPr>
          <a:xfrm>
            <a:off x="8686800" y="6839712"/>
            <a:ext cx="658368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6" name="Pill filter_singlets"/>
          <p:cNvSpPr/>
          <p:nvPr/>
        </p:nvSpPr>
        <p:spPr>
          <a:xfrm>
            <a:off x="6309360" y="7699248"/>
            <a:ext cx="146304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7" name="Pill text filter_singlets"/>
          <p:cNvSpPr txBox="1"/>
          <p:nvPr/>
        </p:nvSpPr>
        <p:spPr>
          <a:xfrm>
            <a:off x="6309360" y="7763256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filter_singlets</a:t>
            </a:r>
            <a:endParaRPr lang="en-US" sz="1200"/>
          </a:p>
        </p:txBody>
      </p:sp>
      <p:cxnSp>
        <p:nvCxnSpPr>
          <p:cNvPr id="58" name="full h5ad to filter"/>
          <p:cNvCxnSpPr/>
          <p:nvPr/>
        </p:nvCxnSpPr>
        <p:spPr>
          <a:xfrm>
            <a:off x="7040880" y="7388352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59" name="solo labels to filter"/>
          <p:cNvCxnSpPr/>
          <p:nvPr/>
        </p:nvCxnSpPr>
        <p:spPr>
          <a:xfrm flipH="1">
            <a:off x="7772400" y="7132320"/>
            <a:ext cx="2871216" cy="71323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0" name="Filter singlets"/>
          <p:cNvSpPr/>
          <p:nvPr/>
        </p:nvSpPr>
        <p:spPr>
          <a:xfrm>
            <a:off x="5394960" y="8193024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1" name="Filter singlets stripe"/>
          <p:cNvSpPr/>
          <p:nvPr/>
        </p:nvSpPr>
        <p:spPr>
          <a:xfrm>
            <a:off x="5394960" y="8193024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2" name="Filter singlets text"/>
          <p:cNvSpPr txBox="1"/>
          <p:nvPr/>
        </p:nvSpPr>
        <p:spPr>
          <a:xfrm>
            <a:off x="5596128" y="8357616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annotated full + singlet-only 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SOLO labels, scores, doublet barcodes</a:t>
            </a:r>
            <a:endParaRPr lang="en-US" sz="1300"/>
          </a:p>
        </p:txBody>
      </p:sp>
      <p:sp>
        <p:nvSpPr>
          <p:cNvPr id="63" name="Final h5ad"/>
          <p:cNvSpPr/>
          <p:nvPr/>
        </p:nvSpPr>
        <p:spPr>
          <a:xfrm>
            <a:off x="5394960" y="9454896"/>
            <a:ext cx="3602736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64" name="Final h5ad stripe"/>
          <p:cNvSpPr/>
          <p:nvPr/>
        </p:nvSpPr>
        <p:spPr>
          <a:xfrm>
            <a:off x="5394960" y="945489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5" name="Final h5ad text"/>
          <p:cNvSpPr txBox="1"/>
          <p:nvPr/>
        </p:nvSpPr>
        <p:spPr>
          <a:xfrm>
            <a:off x="5596128" y="9619488"/>
            <a:ext cx="325526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Final Cell-level H5ADs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en-US" sz="1300"/>
          </a:p>
        </p:txBody>
      </p:sp>
      <p:cxnSp>
        <p:nvCxnSpPr>
          <p:cNvPr id="66" name="singlets to final h5ad"/>
          <p:cNvCxnSpPr/>
          <p:nvPr/>
        </p:nvCxnSpPr>
        <p:spPr>
          <a:xfrm>
            <a:off x="7040880" y="9144000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67" name="qc metrics to merge"/>
          <p:cNvCxnSpPr/>
          <p:nvPr/>
        </p:nvCxnSpPr>
        <p:spPr>
          <a:xfrm>
            <a:off x="8138160" y="7388352"/>
            <a:ext cx="2011680" cy="38404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68" name="solo summary to merge"/>
          <p:cNvCxnSpPr/>
          <p:nvPr/>
        </p:nvCxnSpPr>
        <p:spPr>
          <a:xfrm>
            <a:off x="10643616" y="7132320"/>
            <a:ext cx="914" cy="493776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69" name="Pill merge_qc"/>
          <p:cNvSpPr/>
          <p:nvPr/>
        </p:nvSpPr>
        <p:spPr>
          <a:xfrm>
            <a:off x="10149840" y="7626096"/>
            <a:ext cx="102412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70" name="Pill text merge_qc"/>
          <p:cNvSpPr txBox="1"/>
          <p:nvPr/>
        </p:nvSpPr>
        <p:spPr>
          <a:xfrm>
            <a:off x="10149840" y="7690104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merge_qc</a:t>
            </a:r>
            <a:endParaRPr lang="en-US" sz="1200"/>
          </a:p>
        </p:txBody>
      </p:sp>
      <p:sp>
        <p:nvSpPr>
          <p:cNvPr id="71" name="QC summary merge"/>
          <p:cNvSpPr/>
          <p:nvPr/>
        </p:nvSpPr>
        <p:spPr>
          <a:xfrm>
            <a:off x="9345168" y="8119872"/>
            <a:ext cx="2596896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2" name="QC summary merge stripe"/>
          <p:cNvSpPr/>
          <p:nvPr/>
        </p:nvSpPr>
        <p:spPr>
          <a:xfrm>
            <a:off x="9345168" y="8119872"/>
            <a:ext cx="73152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73" name="QC summary merge text"/>
          <p:cNvSpPr txBox="1"/>
          <p:nvPr/>
        </p:nvSpPr>
        <p:spPr>
          <a:xfrm>
            <a:off x="9546336" y="8284464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QC metrics + SOLO summary</a:t>
            </a:r>
            <a:endParaRPr lang="en-US" sz="1300"/>
          </a:p>
        </p:txBody>
      </p:sp>
      <p:cxnSp>
        <p:nvCxnSpPr>
          <p:cNvPr id="74" name="merge to final table"/>
          <p:cNvCxnSpPr/>
          <p:nvPr/>
        </p:nvCxnSpPr>
        <p:spPr>
          <a:xfrm>
            <a:off x="10643616" y="8961120"/>
            <a:ext cx="914" cy="49377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5" name="Final QC table"/>
          <p:cNvSpPr/>
          <p:nvPr/>
        </p:nvSpPr>
        <p:spPr>
          <a:xfrm>
            <a:off x="9345168" y="9454896"/>
            <a:ext cx="2596896" cy="585216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6" name="Final QC table stripe"/>
          <p:cNvSpPr/>
          <p:nvPr/>
        </p:nvSpPr>
        <p:spPr>
          <a:xfrm>
            <a:off x="9345168" y="9454896"/>
            <a:ext cx="73152" cy="585216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7" name="Final QC table text"/>
          <p:cNvSpPr txBox="1"/>
          <p:nvPr/>
        </p:nvSpPr>
        <p:spPr>
          <a:xfrm>
            <a:off x="9546336" y="961948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Final QC Table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en-US" sz="1300"/>
          </a:p>
        </p:txBody>
      </p:sp>
      <p:sp>
        <p:nvSpPr>
          <p:cNvPr id="78" name="TextBox"/>
          <p:cNvSpPr txBox="1"/>
          <p:nvPr/>
        </p:nvSpPr>
        <p:spPr>
          <a:xfrm>
            <a:off x="530352" y="10497312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rial"/>
                <a:ea typeface="Malgun Gothic"/>
              </a:rPr>
              <a:t>Configurable CSV start_step: cellranger, cellbender, or qc. Species is set by the user-supplied Cell Ranger transcriptome reference.</a:t>
            </a:r>
            <a:endParaRPr lang="en-US" sz="1300"/>
          </a:p>
          <a:p>
            <a:r>
              <a:rPr lang="en-US" sz="1300">
                <a:solidFill>
                  <a:srgbClr val="4B5563"/>
                </a:solidFill>
                <a:latin typeface="Arial"/>
                <a:ea typeface="Malgun Gothic"/>
              </a:rPr>
              <a:t>Default QC: pct_counts_mt &lt; 20, min_genes=200, min_counts=500, min_cells_gene=5, HVG=2000.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329184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2800" b="1">
                <a:solidFill>
                  <a:srgbClr val="1F2937"/>
                </a:solidFill>
                <a:latin typeface="Arial"/>
                <a:ea typeface="Malgun Gothic"/>
              </a:rPr>
              <a:t>How 05 and 06 relate after 04 SOLO</a:t>
            </a:r>
            <a:endParaRPr lang="en-US" sz="2800"/>
          </a:p>
          <a:p>
            <a:r>
              <a:rPr lang="en-US" sz="1600">
                <a:solidFill>
                  <a:srgbClr val="4B5563"/>
                </a:solidFill>
                <a:latin typeface="Arial"/>
                <a:ea typeface="Malgun Gothic"/>
              </a:rPr>
              <a:t>04 produces the doublet calls, 05 filters the h5ad with them, and 06 only merges the CSV summaries.</a:t>
            </a:r>
            <a:endParaRPr lang="en-US" sz="1600"/>
          </a:p>
        </p:txBody>
      </p:sp>
      <p:sp>
        <p:nvSpPr>
          <p:cNvPr id="3" name="Full QC h5ad"/>
          <p:cNvSpPr/>
          <p:nvPr/>
        </p:nvSpPr>
        <p:spPr>
          <a:xfrm>
            <a:off x="1005840" y="15544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" name="Full QC h5ad stripe"/>
          <p:cNvSpPr/>
          <p:nvPr/>
        </p:nvSpPr>
        <p:spPr>
          <a:xfrm>
            <a:off x="1005840" y="15544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Full QC h5ad text"/>
          <p:cNvSpPr txBox="1"/>
          <p:nvPr/>
        </p:nvSpPr>
        <p:spPr>
          <a:xfrm>
            <a:off x="1207008" y="17190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 output A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Full QC H5AD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{sample}_qc_full.h5ad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Passed mitochondrial/gene/count QC; doublets not removed yet</a:t>
            </a:r>
            <a:endParaRPr lang="en-US" sz="1300"/>
          </a:p>
        </p:txBody>
      </p:sp>
      <p:sp>
        <p:nvSpPr>
          <p:cNvPr id="6" name="HVG h5ad"/>
          <p:cNvSpPr/>
          <p:nvPr/>
        </p:nvSpPr>
        <p:spPr>
          <a:xfrm>
            <a:off x="100584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" name="HVG h5ad stripe"/>
          <p:cNvSpPr/>
          <p:nvPr/>
        </p:nvSpPr>
        <p:spPr>
          <a:xfrm>
            <a:off x="100584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8" name="HVG h5ad text"/>
          <p:cNvSpPr txBox="1"/>
          <p:nvPr/>
        </p:nvSpPr>
        <p:spPr>
          <a:xfrm>
            <a:off x="120700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 output B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HVG H5AD for SOLO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{sample}_qc_hvg2000.h5ad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HVG subset for SOLO training/calling</a:t>
            </a:r>
            <a:endParaRPr lang="en-US" sz="1300"/>
          </a:p>
        </p:txBody>
      </p:sp>
      <p:sp>
        <p:nvSpPr>
          <p:cNvPr id="9" name="SOLO explanation"/>
          <p:cNvSpPr/>
          <p:nvPr/>
        </p:nvSpPr>
        <p:spPr>
          <a:xfrm>
            <a:off x="5669280" y="2743200"/>
            <a:ext cx="32918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0" name="SOLO explanation stripe"/>
          <p:cNvSpPr/>
          <p:nvPr/>
        </p:nvSpPr>
        <p:spPr>
          <a:xfrm>
            <a:off x="5669280" y="2743200"/>
            <a:ext cx="73152" cy="135331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1" name="SOLO explanation text"/>
          <p:cNvSpPr txBox="1"/>
          <p:nvPr/>
        </p:nvSpPr>
        <p:spPr>
          <a:xfrm>
            <a:off x="5870448" y="2907792"/>
            <a:ext cx="2944368" cy="11521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Assigns a singlet/doublet label and score to each barcode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Closer to a set of calls than to the final full-gene matrix</a:t>
            </a:r>
            <a:endParaRPr lang="en-US" sz="1300"/>
          </a:p>
        </p:txBody>
      </p:sp>
      <p:sp>
        <p:nvSpPr>
          <p:cNvPr id="12" name="Filter explanation"/>
          <p:cNvSpPr/>
          <p:nvPr/>
        </p:nvSpPr>
        <p:spPr>
          <a:xfrm>
            <a:off x="10332720" y="1554480"/>
            <a:ext cx="32918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3" name="Filter explanation stripe"/>
          <p:cNvSpPr/>
          <p:nvPr/>
        </p:nvSpPr>
        <p:spPr>
          <a:xfrm>
            <a:off x="10332720" y="1554480"/>
            <a:ext cx="73152" cy="12984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4" name="Filter explanation text"/>
          <p:cNvSpPr txBox="1"/>
          <p:nvPr/>
        </p:nvSpPr>
        <p:spPr>
          <a:xfrm>
            <a:off x="10533888" y="1719072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Full QC H5AD + SOLO labels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Writes the SOLO-labelled full h5ad and the singlet-only h5ad after doublet removal</a:t>
            </a:r>
            <a:endParaRPr lang="en-US" sz="1300"/>
          </a:p>
        </p:txBody>
      </p:sp>
      <p:sp>
        <p:nvSpPr>
          <p:cNvPr id="15" name="Merge explanation"/>
          <p:cNvSpPr/>
          <p:nvPr/>
        </p:nvSpPr>
        <p:spPr>
          <a:xfrm>
            <a:off x="1033272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6" name="Merge explanation stripe"/>
          <p:cNvSpPr/>
          <p:nvPr/>
        </p:nvSpPr>
        <p:spPr>
          <a:xfrm>
            <a:off x="1033272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7" name="Merge explanation text"/>
          <p:cNvSpPr txBox="1"/>
          <p:nvPr/>
        </p:nvSpPr>
        <p:spPr>
          <a:xfrm>
            <a:off x="1053388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Reporting step that merges the 03 QC metrics and 05 SOLO summary per sample</a:t>
            </a:r>
            <a:endParaRPr lang="en-US" sz="1300"/>
          </a:p>
        </p:txBody>
      </p:sp>
      <p:cxnSp>
        <p:nvCxnSpPr>
          <p:cNvPr id="18" name="full to filter"/>
          <p:cNvCxnSpPr/>
          <p:nvPr/>
        </p:nvCxnSpPr>
        <p:spPr>
          <a:xfrm>
            <a:off x="4297680" y="2157984"/>
            <a:ext cx="603504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19" name="hvg to solo"/>
          <p:cNvCxnSpPr/>
          <p:nvPr/>
        </p:nvCxnSpPr>
        <p:spPr>
          <a:xfrm flipV="1">
            <a:off x="4297680" y="3419856"/>
            <a:ext cx="1371600" cy="56692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0" name="solo to filter"/>
          <p:cNvCxnSpPr/>
          <p:nvPr/>
        </p:nvCxnSpPr>
        <p:spPr>
          <a:xfrm flipV="1">
            <a:off x="8961120" y="2157984"/>
            <a:ext cx="1371600" cy="126187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1" name="solo summary to merge"/>
          <p:cNvCxnSpPr/>
          <p:nvPr/>
        </p:nvCxnSpPr>
        <p:spPr>
          <a:xfrm>
            <a:off x="8961120" y="3419856"/>
            <a:ext cx="1371600" cy="56692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22" name="qc metrics to merge"/>
          <p:cNvCxnSpPr/>
          <p:nvPr/>
        </p:nvCxnSpPr>
        <p:spPr>
          <a:xfrm>
            <a:off x="4297680" y="2157984"/>
            <a:ext cx="6035040" cy="1828800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23" name="Before doublet output"/>
          <p:cNvSpPr/>
          <p:nvPr/>
        </p:nvSpPr>
        <p:spPr>
          <a:xfrm>
            <a:off x="100584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4" name="Before doublet output stripe"/>
          <p:cNvSpPr/>
          <p:nvPr/>
        </p:nvSpPr>
        <p:spPr>
          <a:xfrm>
            <a:off x="100584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Before doublet output text"/>
          <p:cNvSpPr txBox="1"/>
          <p:nvPr/>
        </p:nvSpPr>
        <p:spPr>
          <a:xfrm>
            <a:off x="120700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h5ad with SOLO annotations, before doublet removal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en-US" sz="15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Location: results/{sample}/05_singlets/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Keeps every QC-passed cell and adds solo_is_doublet, solo_softmax_scores and solo_logit_scores to obs.</a:t>
            </a:r>
            <a:endParaRPr lang="en-US" sz="1300"/>
          </a:p>
        </p:txBody>
      </p:sp>
      <p:sp>
        <p:nvSpPr>
          <p:cNvPr id="26" name="After doublet output"/>
          <p:cNvSpPr/>
          <p:nvPr/>
        </p:nvSpPr>
        <p:spPr>
          <a:xfrm>
            <a:off x="804672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7" name="After doublet output stripe"/>
          <p:cNvSpPr/>
          <p:nvPr/>
        </p:nvSpPr>
        <p:spPr>
          <a:xfrm>
            <a:off x="804672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After doublet output text"/>
          <p:cNvSpPr txBox="1"/>
          <p:nvPr/>
        </p:nvSpPr>
        <p:spPr>
          <a:xfrm>
            <a:off x="824788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h5ad after doublet removal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en-US" sz="15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Location: results/{sample}/05_singlets/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Final full-gene matrix for analysis, with barcodes called doublets by SOLO removed.</a:t>
            </a:r>
            <a:endParaRPr lang="en-US" sz="1300"/>
          </a:p>
        </p:txBody>
      </p:sp>
      <p:sp>
        <p:nvSpPr>
          <p:cNvPr id="29" name="TextBox"/>
          <p:cNvSpPr txBox="1"/>
          <p:nvPr/>
        </p:nvSpPr>
        <p:spPr>
          <a:xfrm>
            <a:off x="1005840" y="804672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0F766E"/>
                </a:solidFill>
                <a:latin typeface="Arial"/>
                <a:ea typeface="Malgun Gothic"/>
              </a:rPr>
              <a:t>The pipeline saves the full h5ad after basic QC, the SOLO-annotated full h5ad and the SOLO singlet-only h5ad.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So you can compare before/after doublet removal, or keep the doublet calls only as metadata in a separate analysis.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4B8A6"/>
      </a:accent1>
      <a:accent2>
        <a:srgbClr val="F59E0B"/>
      </a:accent2>
      <a:accent3>
        <a:srgbClr val="6B7280"/>
      </a:accent3>
      <a:accent4>
        <a:srgbClr val="9CA3AF"/>
      </a:accent4>
      <a:accent5>
        <a:srgbClr val="4B5563"/>
      </a:accent5>
      <a:accent6>
        <a:srgbClr val="CBD5E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algun Gothic"/>
      </a:majorFont>
      <a:minorFont>
        <a:latin typeface="Arial"/>
        <a:ea typeface="Malgun Gothic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scRNA-seq QC Pipeline Diagram</dc:title>
  <dc:creator>Codex</dc:creator>
  <cp:lastModifiedBy>Codex</cp:lastModifiedBy>
  <dcterms:created xsi:type="dcterms:W3CDTF">2026-06-23T10:46:18.727244+00:00</dcterms:created>
  <dcterms:modified xsi:type="dcterms:W3CDTF">2026-06-23T10:46:18.727244+00:00</dcterms:modified>
</cp:coreProperties>
</file>