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04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88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PacBio HiFi WGS Analysis Pipeline  (K_map 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"/>
            <a:ext cx="1280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0E0EF"/>
                </a:solidFill>
                <a:latin typeface="Calibri"/>
              </a:rPr>
              <a:t>Nextflow DSL2  ·  Singularity  ·  GRCh38_no_alt_analysis_set  ·  Normal(N1/N2) / Tumor(T1/T2)  4 samples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93040" y="137160"/>
            <a:ext cx="1005840" cy="658368"/>
          </a:xfrm>
          <a:prstGeom prst="rect">
            <a:avLst/>
          </a:prstGeom>
          <a:solidFill>
            <a:srgbClr val="1A30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29616" y="173736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pbmm2 v26.1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36040" y="137160"/>
            <a:ext cx="1280160" cy="658368"/>
          </a:xfrm>
          <a:prstGeom prst="rect">
            <a:avLst/>
          </a:prstGeom>
          <a:solidFill>
            <a:srgbClr val="1A30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72616" y="173736"/>
            <a:ext cx="12070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DeepVariant 1.9-GPU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453359" y="137160"/>
            <a:ext cx="1005840" cy="658368"/>
          </a:xfrm>
          <a:prstGeom prst="rect">
            <a:avLst/>
          </a:prstGeom>
          <a:solidFill>
            <a:srgbClr val="1A30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489935" y="173736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hiphase v1.6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596359" y="137160"/>
            <a:ext cx="1005840" cy="658368"/>
          </a:xfrm>
          <a:prstGeom prst="rect">
            <a:avLst/>
          </a:prstGeom>
          <a:solidFill>
            <a:srgbClr val="1A30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32935" y="173736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  <a:latin typeface="Calibri"/>
              </a:rPr>
              <a:t>AnnotSV v3.5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1051560"/>
            <a:ext cx="1656892" cy="56692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JASMINE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CAE4"/>
                </a:solidFill>
                <a:latin typeface="Calibri"/>
              </a:rPr>
              <a:t>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Kinetics → MM/ML
methylation tag 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CAE4"/>
                </a:solidFill>
                <a:latin typeface="Calibri"/>
              </a:rPr>
              <a:t>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3483864"/>
            <a:ext cx="1547164" cy="1097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methyl.bam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76348.8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004364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04364" y="1051560"/>
            <a:ext cx="1656892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40940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1796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PBMM2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1796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B4D8"/>
                </a:solidFill>
                <a:latin typeface="Calibri"/>
              </a:rPr>
              <a:t>align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9228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--preset HIFI --sort
16 threads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9228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  <a:latin typeface="Calibri"/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9228" y="3483864"/>
            <a:ext cx="1547164" cy="109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9228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aligned.sorted.bam
flagstat.txt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9545.6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807561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02C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07561" y="1051560"/>
            <a:ext cx="1656892" cy="566928"/>
          </a:xfrm>
          <a:prstGeom prst="rect">
            <a:avLst/>
          </a:prstGeom>
          <a:solidFill>
            <a:srgbClr val="02C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4137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4993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DeepVariant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4993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2C396"/>
                </a:solidFill>
                <a:latin typeface="Calibri"/>
              </a:rPr>
              <a:t>v1.9.0 GPU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2425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--model_type PACBIO
--num_shards 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2425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2C396"/>
                </a:solidFill>
                <a:latin typeface="Calibri"/>
              </a:rPr>
              <a:t>OUTPUT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62425" y="3483864"/>
            <a:ext cx="1547164" cy="10972"/>
          </a:xfrm>
          <a:prstGeom prst="rect">
            <a:avLst/>
          </a:prstGeom>
          <a:solidFill>
            <a:srgbClr val="02C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62425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.vcf.gz
.g.vcf.gz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2742.4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610758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10758" y="1051560"/>
            <a:ext cx="1656892" cy="56692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47334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190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SAWFISH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8190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2B788"/>
                </a:solidFill>
                <a:latin typeface="Calibri"/>
              </a:rPr>
              <a:t>discover+joint-call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5622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SV / CNV 호출
breakpoint detection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5622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2B788"/>
                </a:solidFill>
                <a:latin typeface="Calibri"/>
              </a:rPr>
              <a:t>OUTPUT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5622" y="3483864"/>
            <a:ext cx="1547164" cy="1097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5622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.sv.vcf.gz
run.stats.json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285939.2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413955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80B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13955" y="1051560"/>
            <a:ext cx="1656892" cy="566928"/>
          </a:xfrm>
          <a:prstGeom prst="rect">
            <a:avLst/>
          </a:prstGeom>
          <a:solidFill>
            <a:srgbClr val="80B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0531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41387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TRGT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41387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0B918"/>
                </a:solidFill>
                <a:latin typeface="Calibri"/>
              </a:rPr>
              <a:t>v5.0.0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68819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--preset wgs
repeat_catalog.hg38.bed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68819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0B918"/>
                </a:solidFill>
                <a:latin typeface="Calibri"/>
              </a:rPr>
              <a:t>OUTPUT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68819" y="3483864"/>
            <a:ext cx="1547164" cy="10972"/>
          </a:xfrm>
          <a:prstGeom prst="rect">
            <a:avLst/>
          </a:prstGeom>
          <a:solidFill>
            <a:srgbClr val="80B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68819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.trgt.vcf.gz
spanning.bam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089136.0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9217152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17152" y="1051560"/>
            <a:ext cx="1656892" cy="5669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53728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4584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HiPhase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44584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B703"/>
                </a:solidFill>
                <a:latin typeface="Calibri"/>
              </a:rPr>
              <a:t>v1.6.0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72016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SNV + SV + TR
동시 haplotype phasing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2016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B703"/>
                </a:solidFill>
                <a:latin typeface="Calibri"/>
              </a:rPr>
              <a:t>OUTPUT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72016" y="3483864"/>
            <a:ext cx="1547164" cy="1097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72016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haplotagged.bam
phased VCF ×3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892332.8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11020348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FF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020348" y="1051560"/>
            <a:ext cx="1656892" cy="566928"/>
          </a:xfrm>
          <a:prstGeom prst="rect">
            <a:avLst/>
          </a:prstGeom>
          <a:solidFill>
            <a:srgbClr val="FF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056924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47780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pb-CpG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47780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8200"/>
                </a:solidFill>
                <a:latin typeface="Calibri"/>
              </a:rPr>
              <a:t>tools v3.0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75212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--pileup-mode model
hap1 / hap2 / combined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75212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200"/>
                </a:solidFill>
                <a:latin typeface="Calibri"/>
              </a:rPr>
              <a:t>OUTPUT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075212" y="3483864"/>
            <a:ext cx="1547164" cy="10972"/>
          </a:xfrm>
          <a:prstGeom prst="rect">
            <a:avLst/>
          </a:prstGeom>
          <a:solidFill>
            <a:srgbClr val="FF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075212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combined/hap1/hap2
.bed.gz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2695529.600000001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2823545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F7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2823545" y="1051560"/>
            <a:ext cx="1656892" cy="566928"/>
          </a:xfrm>
          <a:prstGeom prst="rect">
            <a:avLst/>
          </a:prstGeom>
          <a:solidFill>
            <a:srgbClr val="F7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860121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850977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sTELLeR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50977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75555"/>
                </a:solidFill>
                <a:latin typeface="Calibri"/>
              </a:rPr>
              <a:t>PacBio mode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878409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-s pb  -r 3
TE reference FASTA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878409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75555"/>
                </a:solidFill>
                <a:latin typeface="Calibri"/>
              </a:rPr>
              <a:t>OUTPUT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878409" y="3483864"/>
            <a:ext cx="1547164" cy="10972"/>
          </a:xfrm>
          <a:prstGeom prst="rect">
            <a:avLst/>
          </a:prstGeom>
          <a:solidFill>
            <a:srgbClr val="F7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878409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steller.sorted
.vcf.gz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4498726.4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14626742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CB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4626742" y="1051560"/>
            <a:ext cx="1656892" cy="566928"/>
          </a:xfrm>
          <a:prstGeom prst="rect">
            <a:avLst/>
          </a:prstGeom>
          <a:solidFill>
            <a:srgbClr val="CB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4663318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654174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VEP v115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654174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B56C4"/>
                </a:solidFill>
                <a:latin typeface="Calibri"/>
              </a:rPr>
              <a:t>Ensembl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681606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--offline --merged
SIFT·PolyPhen·gnomAD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681606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B56C4"/>
                </a:solidFill>
                <a:latin typeface="Calibri"/>
              </a:rPr>
              <a:t>OUTPUT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681606" y="3483864"/>
            <a:ext cx="1547164" cy="10972"/>
          </a:xfrm>
          <a:prstGeom prst="rect">
            <a:avLst/>
          </a:prstGeom>
          <a:solidFill>
            <a:srgbClr val="CB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681606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snv.phased
.vep115.vcf.gz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6301923.200000001" y="3086100.0"/>
            <a:ext cx="109728.0" cy="0.0"/>
          </a:xfrm>
          <a:prstGeom prst="line">
            <a:avLst/>
          </a:prstGeom>
          <a:ln w="31750">
            <a:solidFill>
              <a:srgbClr val="FFB703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6429939" y="1051560"/>
            <a:ext cx="1656892" cy="4069080"/>
          </a:xfrm>
          <a:prstGeom prst="rect">
            <a:avLst/>
          </a:prstGeom>
          <a:solidFill>
            <a:srgbClr val="1A304A"/>
          </a:solidFill>
          <a:ln w="1905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429939" y="1051560"/>
            <a:ext cx="1656892" cy="566928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6466515" y="1078992"/>
            <a:ext cx="15837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10~12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457371" y="1115568"/>
            <a:ext cx="16020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AnnotSV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457371" y="1600200"/>
            <a:ext cx="1602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966FF"/>
                </a:solidFill>
                <a:latin typeface="Calibri"/>
              </a:rPr>
              <a:t>v3.5.8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484803" y="1911096"/>
            <a:ext cx="15471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SV · TR · TE
임상 주석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484803" y="3264408"/>
            <a:ext cx="15471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966FF"/>
                </a:solidFill>
                <a:latin typeface="Calibri"/>
              </a:rPr>
              <a:t>OUTPUT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84803" y="3483864"/>
            <a:ext cx="1547164" cy="10972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84803" y="3538728"/>
            <a:ext cx="15471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*.annotsv.tsv
*.steller.annotated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01168" y="5376672"/>
            <a:ext cx="5864352" cy="4837176"/>
          </a:xfrm>
          <a:prstGeom prst="rect">
            <a:avLst/>
          </a:prstGeom>
          <a:solidFill>
            <a:srgbClr val="1A30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01168" y="5376672"/>
            <a:ext cx="5864352" cy="384048"/>
          </a:xfrm>
          <a:prstGeom prst="rect">
            <a:avLst/>
          </a:prstGeom>
          <a:solidFill>
            <a:srgbClr val="04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92608" y="5413248"/>
            <a:ext cx="5681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INPUT  &amp;  PARAMETERS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2608" y="5833872"/>
            <a:ext cx="56814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E8FA"/>
                </a:solidFill>
                <a:latin typeface="Courier New"/>
              </a:rPr>
              <a:t>--samplesheet   sample_id, bam, start_step  (CSV)</a:t>
            </a:r>
          </a:p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--start_step    jasmine | pbmm2 | deepvariant | hiphase</a:t>
            </a:r>
          </a:p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--threads       16  (default)  |  --karyotype  XY / XX</a:t>
            </a:r>
          </a:p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--use_gpu       true / false   |  --outdir  results/</a:t>
            </a:r>
          </a:p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--vcf_dir       기존 VCF 경로  (start_step=hiphase 시)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92608" y="6949440"/>
            <a:ext cx="568147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2608" y="7004304"/>
            <a:ext cx="5681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samplesheet CSV  (kmap_4samples.csv)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7242048"/>
            <a:ext cx="5718048" cy="256032"/>
          </a:xfrm>
          <a:prstGeom prst="rect">
            <a:avLst/>
          </a:prstGeom>
          <a:solidFill>
            <a:srgbClr val="0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92608" y="7260336"/>
            <a:ext cx="5681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  <a:latin typeface="Courier New"/>
              </a:rPr>
              <a:t>sample_id          bam path                                    start_step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7498080"/>
            <a:ext cx="5718048" cy="237744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2608" y="7516368"/>
            <a:ext cx="5681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KM_N1       …/m84039_230412_…_bc2002.bam            jasmine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" y="7735824"/>
            <a:ext cx="5718048" cy="2377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92608" y="7754112"/>
            <a:ext cx="5681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KM_N2       …/m84039_230415_…_bc2002.bam            jasmine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7973568"/>
            <a:ext cx="5718048" cy="237744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92608" y="7991856"/>
            <a:ext cx="5681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KM_T1       …/m84039_230414_…_default.bam           jasmine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8211312"/>
            <a:ext cx="5718048" cy="2377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2608" y="8229600"/>
            <a:ext cx="5681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KM_T2       …/m84039_230415_…_default.bam           jasmine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" y="8558784"/>
            <a:ext cx="5681472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2608" y="8631936"/>
            <a:ext cx="568147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Reference :</a:t>
            </a:r>
          </a:p>
          <a:p>
            <a:pPr algn="l"/>
            <a:r>
              <a:rPr sz="1050" b="0" i="0">
                <a:solidFill>
                  <a:srgbClr val="CCCCCC"/>
                </a:solidFill>
                <a:latin typeface="Courier New"/>
              </a:rPr>
              <a:t>  GRCh38_no_alt_analysis_set.fna + .mmi (5.4 GB)</a:t>
            </a:r>
          </a:p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Containers :</a:t>
            </a:r>
          </a:p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  kmap_pbwgs_v2.sif  |  deepvariant_1.9.0-gpu.sif  |  vep_115.sif</a:t>
            </a:r>
          </a:p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Catalog :</a:t>
            </a:r>
          </a:p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  repeat_catalog.hg38.bed  |  teref.human.fa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11824" y="5376672"/>
            <a:ext cx="5864352" cy="4837176"/>
          </a:xfrm>
          <a:prstGeom prst="rect">
            <a:avLst/>
          </a:prstGeom>
          <a:solidFill>
            <a:srgbClr val="1A304A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11824" y="5376672"/>
            <a:ext cx="5864352" cy="384048"/>
          </a:xfrm>
          <a:prstGeom prst="rect">
            <a:avLst/>
          </a:prstGeom>
          <a:solidFill>
            <a:srgbClr val="04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303264" y="5413248"/>
            <a:ext cx="5681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  <a:latin typeface="Calibri"/>
              </a:rPr>
              <a:t>OUTPUT  DIRECTORY  STRUCTURE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84976" y="5852160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  <a:latin typeface="Courier New"/>
              </a:rPr>
              <a:t>results/{sample_id}/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84976" y="6039810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02_aligned_bam/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84976" y="6227461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aligned.sorted.bam  +  flagstat.txt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84976" y="6415112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03_small_variants/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84976" y="6602763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deepvariant.vcf.gz  +  g.vcf.gz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284976" y="6790413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04_structural_var/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84976" y="6978064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sv.vcf.gz  +  run.stats.json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84976" y="7165715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05_tandem_repeats/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284976" y="7353366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trgt.vcf.gz  +  spanning.bam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84976" y="7541017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06a_phased_bam/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284976" y="7728667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haplotagged.bam  +  blocks.tsv  +  summary.tsv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84976" y="7916318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06b/c/d_phased_SNP/SV/TR/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84976" y="8103969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*.phased.vcf.gz  (SNV · SV · TR)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84976" y="8291620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07_CpG_methylation/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84976" y="8479270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combined/hap1/hap2  .bed.gz  +  .tbi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284976" y="8666921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08_SNP_annotation/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84976" y="8854572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snv.phased.vep115.merged.vcf.gz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84976" y="9042223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09_SV / 10_TR / 12_TE annotation/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84976" y="9229874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*.annotsv.tsv  +  steller.annotated.tsv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84976" y="9417524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ourier New"/>
              </a:rPr>
              <a:t>  11_transposable_elements/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84976" y="9605175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urier New"/>
              </a:rPr>
              <a:t>    steller.sorted.vcf.gz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84976" y="9792826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Courier New"/>
              </a:rPr>
              <a:t>qc_summary/  →  qc_summary.csv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84976" y="9980477"/>
            <a:ext cx="5718048" cy="20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ourier New"/>
              </a:rPr>
              <a:t>pipeline_info/  →  timeline.html  +  trace.csv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2222480" y="5376672"/>
            <a:ext cx="5864352" cy="4837176"/>
          </a:xfrm>
          <a:prstGeom prst="rect">
            <a:avLst/>
          </a:prstGeom>
          <a:solidFill>
            <a:srgbClr val="1A304A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2222480" y="5376672"/>
            <a:ext cx="5864352" cy="384048"/>
          </a:xfrm>
          <a:prstGeom prst="rect">
            <a:avLst/>
          </a:prstGeom>
          <a:solidFill>
            <a:srgbClr val="04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2313920" y="5413248"/>
            <a:ext cx="5681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QC  SUMMARY  FORMAT  (qc_summary.csv)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313920" y="5833872"/>
            <a:ext cx="5681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Source :</a:t>
            </a:r>
          </a:p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  flagstat.txt  →  mapping_rate, total/mapped_reads</a:t>
            </a:r>
          </a:p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  sv.run.stats.json  →  total_sv</a:t>
            </a:r>
          </a:p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  hiphase summary.tsv  →  phasing 통계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2313920" y="6766560"/>
            <a:ext cx="568147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2313920" y="6839712"/>
            <a:ext cx="5681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  <a:latin typeface="Calibri"/>
              </a:rPr>
              <a:t>qc_summary.csv  —  컬럼 구성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2295632" y="7077456"/>
            <a:ext cx="5718048" cy="224028"/>
          </a:xfrm>
          <a:prstGeom prst="rect">
            <a:avLst/>
          </a:prstGeom>
          <a:solidFill>
            <a:srgbClr val="023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313920" y="7095744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  <a:latin typeface="Courier New"/>
              </a:rPr>
              <a:t>Field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542373" y="7095744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  <a:latin typeface="Calibri"/>
              </a:rPr>
              <a:t>Description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2295632" y="7301484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2313920" y="7319772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sample_id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542373" y="7319772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alibri"/>
              </a:rPr>
              <a:t>샘플 식별자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2295632" y="7525512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2313920" y="7543800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status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542373" y="7543800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success / failed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2295632" y="7749540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2313920" y="7767828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mapping_rate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542373" y="7767828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매핑률 (%)  ← flagstat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2295632" y="7973568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2313920" y="7991856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total_reads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542373" y="7991856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전체 read 수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2295632" y="8197596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2313920" y="8215884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mapped_reads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4542373" y="8215884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매핑된 read 수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295632" y="8421624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313920" y="8439912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total_sv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542373" y="8439912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SV 호출 수  ← sawfish stats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2295632" y="8645652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2313920" y="8663940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phased_variants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542373" y="8663940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phased variant 수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2295632" y="8869680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2313920" y="8887968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total_variants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4542373" y="8887968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전체 heterozygous 수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2295632" y="9093708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2313920" y="9111996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phase_blocks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4542373" y="9111996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haplotype block 수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2295632" y="9317736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2313920" y="9336024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block_n50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4542373" y="9336024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block NG50 (bp)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2295632" y="9541764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2313920" y="9560052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error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4542373" y="9560052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080"/>
                </a:solidFill>
                <a:latin typeface="Calibri"/>
              </a:rPr>
              <a:t>실패 시 에러 메시지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2313920" y="9857232"/>
            <a:ext cx="5681472" cy="914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2313920" y="9930384"/>
            <a:ext cx="5681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  <a:latin typeface="Calibri"/>
              </a:rPr>
              <a:t>예시 출력  (HG002_s3)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295632" y="10168128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2313920" y="10186416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sample_id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4542373" y="10186416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HG002_s3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2295632" y="10392156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2313920" y="10410444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mapping_rate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4542373" y="10410444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99.48%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2295632" y="10616184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2313920" y="10634472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total_reads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4542373" y="10634472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3,842,110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2295632" y="10840212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2313920" y="10858500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mapped_reads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4542373" y="10858500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3,823,085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2295632" y="11064240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2313920" y="11082528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total_sv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4542373" y="11082528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12,451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2295632" y="11288268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2313920" y="11306556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phased_variants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4542373" y="11306556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225,585  (chr1)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2295632" y="11512296"/>
            <a:ext cx="5718048" cy="224028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2313920" y="11530584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phase_blocks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4542373" y="11530584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916  (chr1)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2295632" y="11736324"/>
            <a:ext cx="5718048" cy="2240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2313920" y="11754612"/>
            <a:ext cx="2228453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EE8FA"/>
                </a:solidFill>
                <a:latin typeface="Courier New"/>
              </a:rPr>
              <a:t>block_n50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4542373" y="11754612"/>
            <a:ext cx="3518611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442,831 bp  (chr1)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